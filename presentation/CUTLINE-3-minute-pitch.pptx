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361a1446d4489" /><Relationship Type="http://schemas.openxmlformats.org/officeDocument/2006/relationships/extended-properties" Target="/docProps/app.xml" Id="R661d4956c50840e6" /><Relationship Type="http://schemas.openxmlformats.org/officeDocument/2006/relationships/officeDocument" Target="/ppt/presentation.xml" Id="Rdfa202a83fa74f80" /></Relationships>
</file>

<file path=ppt/presentation.xml><?xml version="1.0" encoding="utf-8"?>
<p:presentation xmlns:p="http://schemas.openxmlformats.org/presentationml/2006/main">
  <p:sldMasterIdLst>
    <p:sldMasterId xmlns:r="http://schemas.openxmlformats.org/officeDocument/2006/relationships" id="2147483648" r:id="R2ced4945117e4808"/>
  </p:sldMasterIdLst>
  <p:notesMasterIdLst>
    <p:notesMasterId xmlns:r="http://schemas.openxmlformats.org/officeDocument/2006/relationships" r:id="R1e2be3c1f9034990"/>
  </p:notesMasterIdLst>
  <p:sldIdLst>
    <p:sldId xmlns:r="http://schemas.openxmlformats.org/officeDocument/2006/relationships" id="256" r:id="R22373975bb534dce"/>
    <p:sldId xmlns:r="http://schemas.openxmlformats.org/officeDocument/2006/relationships" id="257" r:id="Rbd3b091400b54105"/>
    <p:sldId xmlns:r="http://schemas.openxmlformats.org/officeDocument/2006/relationships" id="258" r:id="R460937ae1a334f57"/>
    <p:sldId xmlns:r="http://schemas.openxmlformats.org/officeDocument/2006/relationships" id="259" r:id="R6ed87ca5ce4a4f1d"/>
    <p:sldId xmlns:r="http://schemas.openxmlformats.org/officeDocument/2006/relationships" id="260" r:id="R42c4c9d68a4943f9"/>
    <p:sldId xmlns:r="http://schemas.openxmlformats.org/officeDocument/2006/relationships" id="261" r:id="R7a306d48a12f4c69"/>
    <p:sldId xmlns:r="http://schemas.openxmlformats.org/officeDocument/2006/relationships" id="262" r:id="R1fb3bb78f90e49d5"/>
    <p:sldId xmlns:r="http://schemas.openxmlformats.org/officeDocument/2006/relationships" id="263" r:id="R67cad700826c4cda"/>
    <p:sldId xmlns:r="http://schemas.openxmlformats.org/officeDocument/2006/relationships" id="264" r:id="R48695144cf304c10"/>
    <p:sldId xmlns:r="http://schemas.openxmlformats.org/officeDocument/2006/relationships" id="265" r:id="R9c94ddc320824a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fdf366bc714079" /><Relationship Type="http://schemas.openxmlformats.org/officeDocument/2006/relationships/slideMaster" Target="/ppt/slideMasters/slideMaster1.xml" Id="R2ced4945117e4808" /><Relationship Type="http://schemas.openxmlformats.org/officeDocument/2006/relationships/notesMaster" Target="/ppt/notesMasters/notesMaster1.xml" Id="R1e2be3c1f9034990" /><Relationship Type="http://schemas.openxmlformats.org/officeDocument/2006/relationships/presProps" Target="/ppt/presProps.xml" Id="R65fb1d26b3fc4745" /><Relationship Type="http://schemas.openxmlformats.org/officeDocument/2006/relationships/tableStyles" Target="/ppt/tableStyles.xml" Id="Rd0a877f9a8a64092" /><Relationship Type="http://schemas.openxmlformats.org/officeDocument/2006/relationships/slide" Target="/ppt/slides/slide1.xml" Id="R22373975bb534dce" /><Relationship Type="http://schemas.openxmlformats.org/officeDocument/2006/relationships/slide" Target="/ppt/slides/slide2.xml" Id="Rbd3b091400b54105" /><Relationship Type="http://schemas.openxmlformats.org/officeDocument/2006/relationships/slide" Target="/ppt/slides/slide3.xml" Id="R460937ae1a334f57" /><Relationship Type="http://schemas.openxmlformats.org/officeDocument/2006/relationships/slide" Target="/ppt/slides/slide4.xml" Id="R6ed87ca5ce4a4f1d" /><Relationship Type="http://schemas.openxmlformats.org/officeDocument/2006/relationships/slide" Target="/ppt/slides/slide5.xml" Id="R42c4c9d68a4943f9" /><Relationship Type="http://schemas.openxmlformats.org/officeDocument/2006/relationships/slide" Target="/ppt/slides/slide6.xml" Id="R7a306d48a12f4c69" /><Relationship Type="http://schemas.openxmlformats.org/officeDocument/2006/relationships/slide" Target="/ppt/slides/slide7.xml" Id="R1fb3bb78f90e49d5" /><Relationship Type="http://schemas.openxmlformats.org/officeDocument/2006/relationships/slide" Target="/ppt/slides/slide8.xml" Id="R67cad700826c4cda" /><Relationship Type="http://schemas.openxmlformats.org/officeDocument/2006/relationships/slide" Target="/ppt/slides/slide9.xml" Id="R48695144cf304c10" /><Relationship Type="http://schemas.openxmlformats.org/officeDocument/2006/relationships/slide" Target="/ppt/slides/slide10.xml" Id="R9c94ddc320824a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0c668861794b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99362712494cb0" /><Relationship Type="http://schemas.openxmlformats.org/officeDocument/2006/relationships/notesMaster" Target="/ppt/notesMasters/notesMaster1.xml" Id="R5ef63357e81440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2d5b2058f84f25" /><Relationship Type="http://schemas.openxmlformats.org/officeDocument/2006/relationships/notesMaster" Target="/ppt/notesMasters/notesMaster1.xml" Id="R9acba91e9fdd4c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b42cb2204246a9" /><Relationship Type="http://schemas.openxmlformats.org/officeDocument/2006/relationships/notesMaster" Target="/ppt/notesMasters/notesMaster1.xml" Id="Ra5972b44255542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788dd8445f41d9" /><Relationship Type="http://schemas.openxmlformats.org/officeDocument/2006/relationships/notesMaster" Target="/ppt/notesMasters/notesMaster1.xml" Id="R5a7a8d23fd454f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6d8a6467d24669" /><Relationship Type="http://schemas.openxmlformats.org/officeDocument/2006/relationships/notesMaster" Target="/ppt/notesMasters/notesMaster1.xml" Id="Ra7c9ff55fed449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89b69ecde14ffa" /><Relationship Type="http://schemas.openxmlformats.org/officeDocument/2006/relationships/notesMaster" Target="/ppt/notesMasters/notesMaster1.xml" Id="Rf93c64390a514a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29cafab3e04690" /><Relationship Type="http://schemas.openxmlformats.org/officeDocument/2006/relationships/notesMaster" Target="/ppt/notesMasters/notesMaster1.xml" Id="Rb621eeaf0a5241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4aa9144c8140c2" /><Relationship Type="http://schemas.openxmlformats.org/officeDocument/2006/relationships/notesMaster" Target="/ppt/notesMasters/notesMaster1.xml" Id="R8c75a7a5878a40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55f26a53b54ad3" /><Relationship Type="http://schemas.openxmlformats.org/officeDocument/2006/relationships/notesMaster" Target="/ppt/notesMasters/notesMaster1.xml" Id="R3b3d27b4fde543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bc25743daf41f8" /><Relationship Type="http://schemas.openxmlformats.org/officeDocument/2006/relationships/notesMaster" Target="/ppt/notesMasters/notesMaster1.xml" Id="Rc12fc659dc454c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[00:00–00:12 | 12 seconds]</a:t>
            </a:r>
          </a:p>
          <a:p xmlns:a="http://schemas.openxmlformats.org/drawingml/2006/main">
            <a:r>
              <a:t/>
            </a:r>
          </a:p>
          <a:p xmlns:a="http://schemas.openxmlformats.org/drawingml/2006/main">
            <a:r>
              <a:t>SPEAKER SCRIPT</a:t>
            </a:r>
          </a:p>
          <a:p xmlns:a="http://schemas.openxmlformats.org/drawingml/2006/main">
            <a:r>
              <a:t>CUTLINE turns a theater audience into the director. We begin in imagined deep space, arrive in one shared room, and let that room change the film.</a:t>
            </a:r>
          </a:p>
          <a:p xmlns:a="http://schemas.openxmlformats.org/drawingml/2006/main">
            <a:r>
              <a:t/>
            </a:r>
          </a:p>
          <a:p xmlns:a="http://schemas.openxmlformats.org/drawingml/2006/main">
            <a:r>
              <a:t>VISUAL / STORYBOARD</a:t>
            </a:r>
          </a:p>
          <a:p xmlns:a="http://schemas.openxmlformats.org/drawingml/2006/main">
            <a:r>
              <a:t>Hold the multiverse cover. Begin a slow push toward the central sphere. Keep the title editable and fixed.</a:t>
            </a:r>
          </a:p>
          <a:p xmlns:a="http://schemas.openxmlformats.org/drawingml/2006/main">
            <a:r>
              <a:t/>
            </a:r>
          </a:p>
          <a:p xmlns:a="http://schemas.openxmlformats.org/drawingml/2006/main">
            <a:r>
              <a:t>DEMO CUE</a:t>
            </a:r>
          </a:p>
          <a:p xmlns:a="http://schemas.openxmlformats.org/drawingml/2006/main">
            <a:r>
              <a:t>Presenter begins. No provider request on stage yet.</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Original speculative AI artwork, assets/multiverse.png. Not a factual visualization.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[00:12–00:30 | 18 seconds]</a:t>
            </a:r>
          </a:p>
          <a:p xmlns:a="http://schemas.openxmlformats.org/drawingml/2006/main">
            <a:r>
              <a:t/>
            </a:r>
          </a:p>
          <a:p xmlns:a="http://schemas.openxmlformats.org/drawingml/2006/main">
            <a:r>
              <a:t>SPEAKER SCRIPT</a:t>
            </a:r>
          </a:p>
          <a:p xmlns:a="http://schemas.openxmlformats.org/drawingml/2006/main">
            <a:r>
              <a:t>A woman reaches the last door of a midnight train. Everyone here sees the same uncertainty. On their phones, they choose to open the door, follow a light, or stop the train. The winning choice becomes the next direction.</a:t>
            </a:r>
          </a:p>
          <a:p xmlns:a="http://schemas.openxmlformats.org/drawingml/2006/main">
            <a:r>
              <a:t/>
            </a:r>
          </a:p>
          <a:p xmlns:a="http://schemas.openxmlformats.org/drawingml/2006/main">
            <a:r>
              <a:t>VISUAL / STORYBOARD</a:t>
            </a:r>
          </a:p>
          <a:p xmlns:a="http://schemas.openxmlformats.org/drawingml/2006/main">
            <a:r>
              <a:t>The last train fills the right side. Three exact choices appear as readable text on the left.</a:t>
            </a:r>
          </a:p>
          <a:p xmlns:a="http://schemas.openxmlformats.org/drawingml/2006/main">
            <a:r>
              <a:t/>
            </a:r>
          </a:p>
          <a:p xmlns:a="http://schemas.openxmlformats.org/drawingml/2006/main">
            <a:r>
              <a:t>DEMO CUE</a:t>
            </a:r>
          </a:p>
          <a:p xmlns:a="http://schemas.openxmlformats.org/drawingml/2006/main">
            <a:r>
              <a:t>Show the decision moment. Do not imply a prerecorded branch is live generated.</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repository/lib/cutline/content.ts</a:t>
            </a:r>
          </a:p>
          <a:p xmlns:a="http://schemas.openxmlformats.org/drawingml/2006/main">
            <a:r>
              <a:t>repository/components/cutline/audience.tsx</a:t>
            </a:r>
          </a:p>
          <a:p xmlns:a="http://schemas.openxmlformats.org/drawingml/2006/main">
            <a:r>
              <a:t>Original AI story still, assets/train.png.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[00:30–00:54 | 24 seconds]</a:t>
            </a:r>
          </a:p>
          <a:p xmlns:a="http://schemas.openxmlformats.org/drawingml/2006/main">
            <a:r>
              <a:t/>
            </a:r>
          </a:p>
          <a:p xmlns:a="http://schemas.openxmlformats.org/drawingml/2006/main">
            <a:r>
              <a:t>SPEAKER SCRIPT</a:t>
            </a:r>
          </a:p>
          <a:p xmlns:a="http://schemas.openxmlformats.org/drawingml/2006/main">
            <a:r>
              <a:t>The opening is one continuous three-dimensional canvas. Click a destination and the camera travels toward it. NASA imagery textures the Earth sphere, and an original orbital photograph anchors San Francisco. These are cinematic, compressed scales. The source references shown here are not app screenshots. Orbis takes over inside the fictional film.</a:t>
            </a:r>
          </a:p>
          <a:p xmlns:a="http://schemas.openxmlformats.org/drawingml/2006/main">
            <a:r>
              <a:t/>
            </a:r>
          </a:p>
          <a:p xmlns:a="http://schemas.openxmlformats.org/drawingml/2006/main">
            <a:r>
              <a:t>VISUAL / STORYBOARD</a:t>
            </a:r>
          </a:p>
          <a:p xmlns:a="http://schemas.openxmlformats.org/drawingml/2006/main">
            <a:r>
              <a:t>The gallery shows credited source references, not a screenshot of the application. In the app, one Three.js canvas moves continuously among clickable projected destinations, through a textured Earth sphere and a San Francisco aerial plane, into the theater and fictional film.</a:t>
            </a:r>
          </a:p>
          <a:p xmlns:a="http://schemas.openxmlformats.org/drawingml/2006/main">
            <a:r>
              <a:t/>
            </a:r>
          </a:p>
          <a:p xmlns:a="http://schemas.openxmlformats.org/drawingml/2006/main">
            <a:r>
              <a:t>DEMO CUE</a:t>
            </a:r>
          </a:p>
          <a:p xmlns:a="http://schemas.openxmlformats.org/drawingml/2006/main">
            <a:r>
              <a:t>Rehearse the continuous flight and destination selection before presenting. Keep astronomy labeled as cinematic compressed scales, not physically exact distances. The Earth sphere uses a NASA texture; the San Francisco plane uses an original orbital photograph. The Orbis model handles the fictional film. Do not claim these source thumbnails depict the rendered app.</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repository/components/cutline</a:t>
            </a:r>
          </a:p>
          <a:p xmlns:a="http://schemas.openxmlformats.org/drawingml/2006/main">
            <a:r>
              <a:t>repository/lib/cutline/content.ts</a:t>
            </a:r>
          </a:p>
          <a:p xmlns:a="http://schemas.openxmlformats.org/drawingml/2006/main">
            <a:r>
              <a:t>Webb's First Deep Field (NIRCam Image) — NASA, ESA, CSA, STScI — https://science.nasa.gov/asset/webb/webbs-first-deep-field-nircam-image/</a:t>
            </a:r>
          </a:p>
          <a:p xmlns:a="http://schemas.openxmlformats.org/drawingml/2006/main">
            <a:r>
              <a:t>Journey Through the Cosmic Web: Cosmic Cruising 2 — NASA/NCSA University of Illinois; visualization: Frank Summers (STScI); simulation: Martin White and Lars Hernquist (Harvard University) — https://svs.gsfc.nasa.gov/10118/</a:t>
            </a:r>
          </a:p>
          <a:p xmlns:a="http://schemas.openxmlformats.org/drawingml/2006/main">
            <a:r>
              <a:t>Our Milky Way Gets a Makeover (Artist Concept) — NASA/JPL-Caltech — https://science.nasa.gov/photojournal/our-milky-way-gets-a-makeover-artist-concept/</a:t>
            </a:r>
          </a:p>
          <a:p xmlns:a="http://schemas.openxmlformats.org/drawingml/2006/main">
            <a:r>
              <a:t>Image of Sun From NASA's Solar Dynamics Observatory — NASA/GSFC/Solar Dynamics Observatory — https://www.jpl.nasa.gov/images/pia26681-image-of-sun-from-nasas-solar-dynamics-observatory/</a:t>
            </a:r>
          </a:p>
          <a:p xmlns:a="http://schemas.openxmlformats.org/drawingml/2006/main">
            <a:r>
              <a:t>The Blue Marble — NASA / Apollo 17 crew — https://science.nasa.gov/resource/the-blue-marble/</a:t>
            </a:r>
          </a:p>
          <a:p xmlns:a="http://schemas.openxmlformats.org/drawingml/2006/main">
            <a:r>
              <a:t>San Francisco's Metropolitan Mosaic — NASA Earth Observatory / ISS Crew Earth Observations Facility and Earth Science and Remote Sensing Unit, NASA Johnson Space Center — https://science.nasa.gov/missions/station/san-franciscos-metropolitan-mosaic/</a:t>
            </a:r>
          </a:p>
          <a:p xmlns:a="http://schemas.openxmlformats.org/drawingml/2006/main">
            <a:r>
              <a:t>Source references shown on this slide are not app screenshots. Multiverse: speculative AI artwork. The Three.js camera journey uses cinematic compressed scales. Six thumbnails retain their exact agency image classifications.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[00:54–01:14 | 20 seconds]</a:t>
            </a:r>
          </a:p>
          <a:p xmlns:a="http://schemas.openxmlformats.org/drawingml/2006/main">
            <a:r>
              <a:t/>
            </a:r>
          </a:p>
          <a:p xmlns:a="http://schemas.openxmlformats.org/drawingml/2006/main">
            <a:r>
              <a:t>SPEAKER SCRIPT</a:t>
            </a:r>
          </a:p>
          <a:p xmlns:a="http://schemas.openxmlformats.org/drawingml/2006/main">
            <a:r>
              <a:t>The host opens a poll. Audience members can change their vote while it stays open. Closing the poll freezes the tally atomically, resolves a tie using the visible choice order, and allows the winner to apply once. Everyone receives the saved story state.</a:t>
            </a:r>
          </a:p>
          <a:p xmlns:a="http://schemas.openxmlformats.org/drawingml/2006/main">
            <a:r>
              <a:t/>
            </a:r>
          </a:p>
          <a:p xmlns:a="http://schemas.openxmlformats.org/drawingml/2006/main">
            <a:r>
              <a:t>VISUAL / STORYBOARD</a:t>
            </a:r>
          </a:p>
          <a:p xmlns:a="http://schemas.openxmlformats.org/drawingml/2006/main">
            <a:r>
              <a:t>Readable four-step interaction sequence. A live app demonstration can replace the slide while narration continues.</a:t>
            </a:r>
          </a:p>
          <a:p xmlns:a="http://schemas.openxmlformats.org/drawingml/2006/main">
            <a:r>
              <a:t/>
            </a:r>
          </a:p>
          <a:p xmlns:a="http://schemas.openxmlformats.org/drawingml/2006/main">
            <a:r>
              <a:t>DEMO CUE</a:t>
            </a:r>
          </a:p>
          <a:p xmlns:a="http://schemas.openxmlformats.org/drawingml/2006/main">
            <a:r>
              <a:t>If the session is ready, open the phone poll, cast a vote, close it, and apply the winner. If it is not ready, remain on the honest process slide.</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repository/db/schema.ts</a:t>
            </a:r>
          </a:p>
          <a:p xmlns:a="http://schemas.openxmlformats.org/drawingml/2006/main">
            <a:r>
              <a:t>repository/app/api/stories/[id]/vote/route.ts</a:t>
            </a:r>
          </a:p>
          <a:p xmlns:a="http://schemas.openxmlformats.org/drawingml/2006/main">
            <a:r>
              <a:t>repository/app/api/stories/[id]/action/route.ts</a:t>
            </a:r>
          </a:p>
          <a:p xmlns:a="http://schemas.openxmlformats.org/drawingml/2006/main">
            <a:r>
              <a:t>repository/app/api/stories/[id]/events/route.ts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[01:14–01:38 | 24 seconds]</a:t>
            </a:r>
          </a:p>
          <a:p xmlns:a="http://schemas.openxmlformats.org/drawingml/2006/main">
            <a:r>
              <a:t/>
            </a:r>
          </a:p>
          <a:p xmlns:a="http://schemas.openxmlformats.org/drawingml/2006/main">
            <a:r>
              <a:t>SPEAKER SCRIPT</a:t>
            </a:r>
          </a:p>
          <a:p xmlns:a="http://schemas.openxmlformats.org/drawingml/2006/main">
            <a:r>
              <a:t>Phones send votes to the application. D one stores ballots and freezes the result. The optional Nebius director turns that result and story memory into a visual instruction. Reactor carries the host’s prompt to Visko Orbis, which streams the shared canvas. Server sent events synchronize the audience. The official starter informs video integration.</a:t>
            </a:r>
          </a:p>
          <a:p xmlns:a="http://schemas.openxmlformats.org/drawingml/2006/main">
            <a:r>
              <a:t/>
            </a:r>
          </a:p>
          <a:p xmlns:a="http://schemas.openxmlformats.org/drawingml/2006/main">
            <a:r>
              <a:t>VISUAL / STORYBOARD</a:t>
            </a:r>
          </a:p>
          <a:p xmlns:a="http://schemas.openxmlformats.org/drawingml/2006/main">
            <a:r>
              <a:t>Native editable architecture diagram. Trace the main row left to right, then the persistence and state synchronization return path.</a:t>
            </a:r>
          </a:p>
          <a:p xmlns:a="http://schemas.openxmlformats.org/drawingml/2006/main">
            <a:r>
              <a:t/>
            </a:r>
          </a:p>
          <a:p xmlns:a="http://schemas.openxmlformats.org/drawingml/2006/main">
            <a:r>
              <a:t>DEMO CUE</a:t>
            </a:r>
          </a:p>
          <a:p xmlns:a="http://schemas.openxmlformats.org/drawingml/2006/main">
            <a:r>
              <a:t>Explain the actual boundary: a vote alone does not mint a video token or direct the model. Host applies the closed winner.</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repository/db/schema.ts</a:t>
            </a:r>
          </a:p>
          <a:p xmlns:a="http://schemas.openxmlformats.org/drawingml/2006/main">
            <a:r>
              <a:t>repository/lib/cutline/director.ts</a:t>
            </a:r>
          </a:p>
          <a:p xmlns:a="http://schemas.openxmlformats.org/drawingml/2006/main">
            <a:r>
              <a:t>repository/components/cutline/use-live-video.ts</a:t>
            </a:r>
          </a:p>
          <a:p xmlns:a="http://schemas.openxmlformats.org/drawingml/2006/main">
            <a:r>
              <a:t>repository/app/api/stories/[id]/token/route.ts</a:t>
            </a:r>
          </a:p>
          <a:p xmlns:a="http://schemas.openxmlformats.org/drawingml/2006/main">
            <a:r>
              <a:t>https://github.com/Visko-Platform/orbis-hackathon-starter/tree/6de7ad733e90967f25979afcfca55b73a71f064a</a:t>
            </a:r>
          </a:p>
          <a:p xmlns:a="http://schemas.openxmlformats.org/drawingml/2006/main">
            <a:r>
              <a:t>https://www.reactor.inc/models/visko-orbis-stable/api</a:t>
            </a:r>
          </a:p>
          <a:p xmlns:a="http://schemas.openxmlformats.org/drawingml/2006/main">
            <a:r>
              <a:t>Official starter audited at commit 6de7ad733e90967f25979afcfca55b73a71f064a on 2026-09-12. CUTLINE is a separate application, not the unmodified starter.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[01:38–01:58 | 20 seconds]</a:t>
            </a:r>
          </a:p>
          <a:p xmlns:a="http://schemas.openxmlformats.org/drawingml/2006/main">
            <a:r>
              <a:t/>
            </a:r>
          </a:p>
          <a:p xmlns:a="http://schemas.openxmlformats.org/drawingml/2006/main">
            <a:r>
              <a:t>SPEAKER SCRIPT</a:t>
            </a:r>
          </a:p>
          <a:p xmlns:a="http://schemas.openxmlformats.org/drawingml/2006/main">
            <a:r>
              <a:t>One observed Stable session delivered twenty-five-sixty by fourteen-forty video at eighteen frames per second. That describes one observed session. The interface separately tracks a sent cue, command acceptance, and the next chunk. Acceptance alone does not prove the requested change appeared. We inspect the picture live.</a:t>
            </a:r>
          </a:p>
          <a:p xmlns:a="http://schemas.openxmlformats.org/drawingml/2006/main">
            <a:r>
              <a:t/>
            </a:r>
          </a:p>
          <a:p xmlns:a="http://schemas.openxmlformats.org/drawingml/2006/main">
            <a:r>
              <a:t>VISUAL / STORYBOARD</a:t>
            </a:r>
          </a:p>
          <a:p xmlns:a="http://schemas.openxmlformats.org/drawingml/2006/main">
            <a:r>
              <a:t>Large session dimensions and frame-rate typography. Beneath, an editable cue-state chain ending in visual inspection.</a:t>
            </a:r>
          </a:p>
          <a:p xmlns:a="http://schemas.openxmlformats.org/drawingml/2006/main">
            <a:r>
              <a:t/>
            </a:r>
          </a:p>
          <a:p xmlns:a="http://schemas.openxmlformats.org/drawingml/2006/main">
            <a:r>
              <a:t>DEMO CUE</a:t>
            </a:r>
          </a:p>
          <a:p xmlns:a="http://schemas.openxmlformats.org/drawingml/2006/main">
            <a:r>
              <a:t>Point at the live video and trace in the app if available. Do not quote one latency observation as a benchmark.</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Browser observations supplied by project lead. Latest Orbis Stable session showed 2560×1440 delivery, 18 fps, and image_confirmed. Earlier Orbis Dynamic session also delivered live video. No standalone trace log was captured for the earlier timing observation. Earth imagery visibly distorted after 40 seconds in a Stable test, motivating use of original NASA source imagery in the cinematic 3D opening, with generated video reserved for fiction. This is not a measured quality benchmark.</a:t>
            </a:r>
          </a:p>
          <a:p xmlns:a="http://schemas.openxmlformats.org/drawingml/2006/main">
            <a:r>
              <a:t>repository/components/cutline/use-live-video.ts</a:t>
            </a:r>
          </a:p>
          <a:p xmlns:a="http://schemas.openxmlformats.org/drawingml/2006/main">
            <a:r>
              <a:t>https://www.reactor.inc/models/visko-orbis-stable/api</a:t>
            </a:r>
          </a:p>
          <a:p xmlns:a="http://schemas.openxmlformats.org/drawingml/2006/main">
            <a:r>
              <a:t>Reactor documentation describes 832×480 generation at 18 fps with upscaled delivery. 2560×1440 is a delivery resolution, not native model generation resolution.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[01:58–02:16 | 18 seconds]</a:t>
            </a:r>
          </a:p>
          <a:p xmlns:a="http://schemas.openxmlformats.org/drawingml/2006/main">
            <a:r>
              <a:t/>
            </a:r>
          </a:p>
          <a:p xmlns:a="http://schemas.openxmlformats.org/drawingml/2006/main">
            <a:r>
              <a:t>SPEAKER SCRIPT</a:t>
            </a:r>
          </a:p>
          <a:p xmlns:a="http://schemas.openxmlformats.org/drawingml/2006/main">
            <a:r>
              <a:t>Creativity stays visible. Story memory anchors the character and setting. The director requests one visible change. Camera and lighting cues reshape the shot. Branch history preserves decisions, and returning to an earlier scene excludes the abandoned future from director context.</a:t>
            </a:r>
          </a:p>
          <a:p xmlns:a="http://schemas.openxmlformats.org/drawingml/2006/main">
            <a:r>
              <a:t/>
            </a:r>
          </a:p>
          <a:p xmlns:a="http://schemas.openxmlformats.org/drawingml/2006/main">
            <a:r>
              <a:t>VISUAL / STORYBOARD</a:t>
            </a:r>
          </a:p>
          <a:p xmlns:a="http://schemas.openxmlformats.org/drawingml/2006/main">
            <a:r>
              <a:t>Two large text columns, continuity on the left and live direction on the right. Use the cosmic-web simulation as a restrained background texture.</a:t>
            </a:r>
          </a:p>
          <a:p xmlns:a="http://schemas.openxmlformats.org/drawingml/2006/main">
            <a:r>
              <a:t/>
            </a:r>
          </a:p>
          <a:p xmlns:a="http://schemas.openxmlformats.org/drawingml/2006/main">
            <a:r>
              <a:t>DEMO CUE</a:t>
            </a:r>
          </a:p>
          <a:p xmlns:a="http://schemas.openxmlformats.org/drawingml/2006/main">
            <a:r>
              <a:t>Mention that model continuity is a prompt constraint rather than a guarantee. The saved branch context is deterministic application behavior.</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repository/lib/cutline/director.ts</a:t>
            </a:r>
          </a:p>
          <a:p xmlns:a="http://schemas.openxmlformats.org/drawingml/2006/main">
            <a:r>
              <a:t>repository/lib/cutline/story.ts</a:t>
            </a:r>
          </a:p>
          <a:p xmlns:a="http://schemas.openxmlformats.org/drawingml/2006/main">
            <a:r>
              <a:t>repository/tests/story.test.ts</a:t>
            </a:r>
          </a:p>
          <a:p xmlns:a="http://schemas.openxmlformats.org/drawingml/2006/main">
            <a:r>
              <a:t>repository/lib/cutline/content.ts</a:t>
            </a:r>
          </a:p>
          <a:p xmlns:a="http://schemas.openxmlformats.org/drawingml/2006/main">
            <a:r>
              <a:t>https://svs.gsfc.nasa.gov/10118/</a:t>
            </a:r>
          </a:p>
          <a:p xmlns:a="http://schemas.openxmlformats.org/drawingml/2006/main">
            <a:r>
              <a:t>Cosmic-web background credit: NASA/NCSA University of Illinois; visualization: Frank Summers (STScI); simulation: Martin White and Lars Hernquist (Harvard University); scientific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[02:16–02:34 | 18 seconds]</a:t>
            </a:r>
          </a:p>
          <a:p xmlns:a="http://schemas.openxmlformats.org/drawingml/2006/main">
            <a:r>
              <a:t/>
            </a:r>
          </a:p>
          <a:p xmlns:a="http://schemas.openxmlformats.org/drawingml/2006/main">
            <a:r>
              <a:t>SPEAKER SCRIPT</a:t>
            </a:r>
          </a:p>
          <a:p xmlns:a="http://schemas.openxmlformats.org/drawingml/2006/main">
            <a:r>
              <a:t>Local integration passed twelve groups covering two hundred ten assertions. Tests cover owner isolation, vote replacement, frozen results, races, branching, exports, and event reconnection. Provider availability and picture quality still need observation in each live rehearsal.</a:t>
            </a:r>
          </a:p>
          <a:p xmlns:a="http://schemas.openxmlformats.org/drawingml/2006/main">
            <a:r>
              <a:t/>
            </a:r>
          </a:p>
          <a:p xmlns:a="http://schemas.openxmlformats.org/drawingml/2006/main">
            <a:r>
              <a:t>VISUAL / STORYBOARD</a:t>
            </a:r>
          </a:p>
          <a:p xmlns:a="http://schemas.openxmlformats.org/drawingml/2006/main">
            <a:r>
              <a:t>Native evidence table and two large test totals. Source run date is visible. Avoid checkmark decoration or false provider-test claims.</a:t>
            </a:r>
          </a:p>
          <a:p xmlns:a="http://schemas.openxmlformats.org/drawingml/2006/main">
            <a:r>
              <a:t/>
            </a:r>
          </a:p>
          <a:p xmlns:a="http://schemas.openxmlformats.org/drawingml/2006/main">
            <a:r>
              <a:t>DEMO CUE</a:t>
            </a:r>
          </a:p>
          <a:p xmlns:a="http://schemas.openxmlformats.org/drawingml/2006/main">
            <a:r>
              <a:t>Refer to retained local test report. Do not reframe these application checks as load testing or an end-to-end provider benchmark.</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repository/docs/testing/api-results.json</a:t>
            </a:r>
          </a:p>
          <a:p xmlns:a="http://schemas.openxmlformats.org/drawingml/2006/main">
            <a:r>
              <a:t>repository/docs/testing/sse-evidence.json</a:t>
            </a:r>
          </a:p>
          <a:p xmlns:a="http://schemas.openxmlformats.org/drawingml/2006/main">
            <a:r>
              <a:t>repository/tests/integration.mjs</a:t>
            </a:r>
          </a:p>
          <a:p xmlns:a="http://schemas.openxmlformats.org/drawingml/2006/main">
            <a:r>
              <a:t>repository/tests/story.test.ts</a:t>
            </a:r>
          </a:p>
          <a:p xmlns:a="http://schemas.openxmlformats.org/drawingml/2006/main">
            <a:r>
              <a:t>Recorded integration run completed 2026-09-12T22:23:48.873Z. 12 passed groups, 0 failed, 210 assertions.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[02:34–02:48 | 14 seconds]</a:t>
            </a:r>
          </a:p>
          <a:p xmlns:a="http://schemas.openxmlformats.org/drawingml/2006/main">
            <a:r>
              <a:t/>
            </a:r>
          </a:p>
          <a:p xmlns:a="http://schemas.openxmlformats.org/drawingml/2006/main">
            <a:r>
              <a:t>SPEAKER SCRIPT</a:t>
            </a:r>
          </a:p>
          <a:p xmlns:a="http://schemas.openxmlformats.org/drawingml/2006/main">
            <a:r>
              <a:t>One combined local run carried a real vote through Nebius into Orbis. The movie continued at eighteen frames per second. We inspected the doorway scene. These timings describe one sample.</a:t>
            </a:r>
          </a:p>
          <a:p xmlns:a="http://schemas.openxmlformats.org/drawingml/2006/main">
            <a:r>
              <a:t/>
            </a:r>
          </a:p>
          <a:p xmlns:a="http://schemas.openxmlformats.org/drawingml/2006/main">
            <a:r>
              <a:t>VISUAL / STORYBOARD</a:t>
            </a:r>
          </a:p>
          <a:p xmlns:a="http://schemas.openxmlformats.org/drawingml/2006/main">
            <a:r>
              <a:t>An editable evidence table traces the combined local run: saved audience winner, Nebius scene and three choices, Orbis acceptance, subsequent chunk, and picture inspection. The 93 ms acknowledgment and 1,927 ms next chunk are separate observed timings.</a:t>
            </a:r>
          </a:p>
          <a:p xmlns:a="http://schemas.openxmlformats.org/drawingml/2006/main">
            <a:r>
              <a:t/>
            </a:r>
          </a:p>
          <a:p xmlns:a="http://schemas.openxmlformats.org/drawingml/2006/main">
            <a:r>
              <a:t>DEMO CUE</a:t>
            </a:r>
          </a:p>
          <a:p xmlns:a="http://schemas.openxmlformats.org/drawingml/2006/main">
            <a:r>
              <a:t>Explain the single combined observation, not a performance benchmark. The audience page used a separate tab; independent identities were verified by the API suite. Check provider readiness for the current demonstration. Deployment and GitHub publication are separate release tasks.</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repository/docs/testing/combined-live.json</a:t>
            </a:r>
          </a:p>
          <a:p xmlns:a="http://schemas.openxmlformats.org/drawingml/2006/main">
            <a:r>
              <a:t>repository/docs/testing/api-results.json</a:t>
            </a:r>
          </a:p>
          <a:p xmlns:a="http://schemas.openxmlformats.org/drawingml/2006/main">
            <a:r>
              <a:t>repository/lib/cutline/director.ts</a:t>
            </a:r>
          </a:p>
          <a:p xmlns:a="http://schemas.openxmlformats.org/drawingml/2006/main">
            <a:r>
              <a:t>2026-09-12T23:30:48.972571+00:00: local production build, reactor/visko-orbis-stable, Nebius openai/gpt-oss-120b. Open the last door won; Nebius produced Mara Opens the Amber Door with three choices; source nebius; image conditioning confirmed; 18 fps; prompt acknowledgment 93 ms; next chunk after cue 1927 ms. Visual inspection showed Mara near an amber train doorway. These are one-run observations, not a benchmark or proof of every requested semantic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[02:48–03:00 | 12 seconds]</a:t>
            </a:r>
          </a:p>
          <a:p xmlns:a="http://schemas.openxmlformats.org/drawingml/2006/main">
            <a:r>
              <a:t/>
            </a:r>
          </a:p>
          <a:p xmlns:a="http://schemas.openxmlformats.org/drawingml/2006/main">
            <a:r>
              <a:t>SPEAKER SCRIPT</a:t>
            </a:r>
          </a:p>
          <a:p xmlns:a="http://schemas.openxmlformats.org/drawingml/2006/main">
            <a:r>
              <a:t>The demonstration ends with a real choice in this room. Join the audience, choose the next direction, and watch the shared film respond. This is CUTLINE.</a:t>
            </a:r>
          </a:p>
          <a:p xmlns:a="http://schemas.openxmlformats.org/drawingml/2006/main">
            <a:r>
              <a:t/>
            </a:r>
          </a:p>
          <a:p xmlns:a="http://schemas.openxmlformats.org/drawingml/2006/main">
            <a:r>
              <a:t>VISUAL / STORYBOARD</a:t>
            </a:r>
          </a:p>
          <a:p xmlns:a="http://schemas.openxmlformats.org/drawingml/2006/main">
            <a:r>
              <a:t>Return to a clean cinematic closing frame. Presenter ends exactly at 03:00. A separate live demonstration may continue after the timed pitch.</a:t>
            </a:r>
          </a:p>
          <a:p xmlns:a="http://schemas.openxmlformats.org/drawingml/2006/main">
            <a:r>
              <a:t/>
            </a:r>
          </a:p>
          <a:p xmlns:a="http://schemas.openxmlformats.org/drawingml/2006/main">
            <a:r>
              <a:t>DEMO CUE</a:t>
            </a:r>
          </a:p>
          <a:p xmlns:a="http://schemas.openxmlformats.org/drawingml/2006/main">
            <a:r>
              <a:t>At 03:00 stop narration. Leave the room ready for a vote. Do not invent a working public URL or a QR code in the deck.</a:t>
            </a:r>
          </a:p>
          <a:p xmlns:a="http://schemas.openxmlformats.org/drawingml/2006/main">
            <a:r>
              <a:t/>
            </a:r>
          </a:p>
          <a:p xmlns:a="http://schemas.openxmlformats.org/drawingml/2006/main">
            <a:r>
              <a:t>TIMING</a:t>
            </a:r>
          </a:p>
          <a:p xmlns:a="http://schemas.openxmlformats.org/drawingml/2006/main">
            <a:r>
              <a:t>Use the hard time boundary above. Finish narration, then hold until the next cue. All ten slots sum to exactly 180 seconds. Natural speaking rate varies.</a:t>
            </a:r>
          </a:p>
          <a:p xmlns:a="http://schemas.openxmlformats.org/drawingml/2006/main">
            <a:r>
              <a:t/>
            </a:r>
          </a:p>
          <a:p xmlns:a="http://schemas.openxmlformats.org/drawingml/2006/main">
            <a:r>
              <a:t>SOURCES</a:t>
            </a:r>
          </a:p>
          <a:p xmlns:a="http://schemas.openxmlformats.org/drawingml/2006/main">
            <a:r>
              <a:t>repository/components/cutline/studio.tsx</a:t>
            </a:r>
          </a:p>
          <a:p xmlns:a="http://schemas.openxmlformats.org/drawingml/2006/main">
            <a:r>
              <a:t>repository/components/cutline/audience.tsx</a:t>
            </a:r>
          </a:p>
          <a:p xmlns:a="http://schemas.openxmlformats.org/drawingml/2006/main">
            <a:r>
              <a:t>Original speculative AI background, assets/multiverse.png.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2f50ea1b594b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566ee32d68477c" /><Relationship Type="http://schemas.openxmlformats.org/officeDocument/2006/relationships/slideLayout" Target="/ppt/slideLayouts/slideLayout1.xml" Id="R53ce6b20afe648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ce6b20afe648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f979e50b234aa5" /><Relationship Type="http://schemas.openxmlformats.org/officeDocument/2006/relationships/image" Target="/ppt/media/image.png" Id="R8a53a215275b4069" /><Relationship Type="http://schemas.openxmlformats.org/officeDocument/2006/relationships/notesSlide" Target="/ppt/notesSlides/notesSlide1.xml" Id="Rb0368588f9f840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50d26bfce542bf" /><Relationship Type="http://schemas.openxmlformats.org/officeDocument/2006/relationships/image" Target="/ppt/media/image2.png" Id="R54342e4c78334e95" /><Relationship Type="http://schemas.openxmlformats.org/officeDocument/2006/relationships/notesSlide" Target="/ppt/notesSlides/notesSlide2.xml" Id="R5783bed816794d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02d94d0653427e" /><Relationship Type="http://schemas.openxmlformats.org/officeDocument/2006/relationships/image" Target="/ppt/media/image3.png" Id="R5266c20d771b420d" /><Relationship Type="http://schemas.openxmlformats.org/officeDocument/2006/relationships/image" Target="/ppt/media/image.jpeg" Id="R1cd7f181dbe147c8" /><Relationship Type="http://schemas.openxmlformats.org/officeDocument/2006/relationships/image" Target="/ppt/media/image2.jpeg" Id="Rc70313403070406e" /><Relationship Type="http://schemas.openxmlformats.org/officeDocument/2006/relationships/image" Target="/ppt/media/image3.jpeg" Id="R6eb50276fa5f4c3c" /><Relationship Type="http://schemas.openxmlformats.org/officeDocument/2006/relationships/image" Target="/ppt/media/image4.jpeg" Id="Reeb888b035e745cb" /><Relationship Type="http://schemas.openxmlformats.org/officeDocument/2006/relationships/image" Target="/ppt/media/image5.jpeg" Id="Rb456a139250d42f2" /><Relationship Type="http://schemas.openxmlformats.org/officeDocument/2006/relationships/notesSlide" Target="/ppt/notesSlides/notesSlide3.xml" Id="R0407f87f939c40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6c82cf5ec14439" /><Relationship Type="http://schemas.openxmlformats.org/officeDocument/2006/relationships/notesSlide" Target="/ppt/notesSlides/notesSlide4.xml" Id="R1c51097106144f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93ef0ef4314ec8" /><Relationship Type="http://schemas.openxmlformats.org/officeDocument/2006/relationships/notesSlide" Target="/ppt/notesSlides/notesSlide5.xml" Id="R1939761c2d9743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e8d593a8044fe5" /><Relationship Type="http://schemas.openxmlformats.org/officeDocument/2006/relationships/notesSlide" Target="/ppt/notesSlides/notesSlide6.xml" Id="Rec17c2b56f6147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e2587b0df04596" /><Relationship Type="http://schemas.openxmlformats.org/officeDocument/2006/relationships/image" Target="/ppt/media/image6.jpeg" Id="Rce45846b49034d40" /><Relationship Type="http://schemas.openxmlformats.org/officeDocument/2006/relationships/notesSlide" Target="/ppt/notesSlides/notesSlide7.xml" Id="R8b0387b7665246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7dd3b7b5294682" /><Relationship Type="http://schemas.openxmlformats.org/officeDocument/2006/relationships/notesSlide" Target="/ppt/notesSlides/notesSlide8.xml" Id="R9b20db9ea06e44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23656c2d23416c" /><Relationship Type="http://schemas.openxmlformats.org/officeDocument/2006/relationships/notesSlide" Target="/ppt/notesSlides/notesSlide9.xml" Id="Rd9a8c2f0e51644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a9ffe28cf84d2b" /><Relationship Type="http://schemas.openxmlformats.org/officeDocument/2006/relationships/image" Target="/ppt/media/image4.png" Id="Rba094402bbf34162" /><Relationship Type="http://schemas.openxmlformats.org/officeDocument/2006/relationships/notesSlide" Target="/ppt/notesSlides/notesSlide10.xml" Id="R1946ab0eb6a345e2" /></Relationships>
</file>

<file path=ppt/slides/slide1.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7ABC2B01-9A1C-4C18-9E30-6D41278A5F9E}"/>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53a215275b4069"/>
          <a:srcRect xmlns:a="http://schemas.openxmlformats.org/drawingml/2006/main" l="15020" t="0" r="15020" b="0"/>
          <a:stretch xmlns:a="http://schemas.openxmlformats.org/drawingml/2006/main">
            <a:fillRect l="0" t="0" r="0" b="0"/>
          </a:stretch>
        </p:blipFill>
        <p:spPr>
          <a:xfrm xmlns:a="http://schemas.openxmlformats.org/drawingml/2006/main">
            <a:off x="3667125" y="0"/>
            <a:ext cx="8524875"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779982-CB22-496D-A46B-A6977463F0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2"/>
              </a:gs>
              <a:gs pos="32000">
                <a:srgbClr val="080B12">
                  <a:alpha val="96000"/>
                </a:srgbClr>
              </a:gs>
              <a:gs pos="69000">
                <a:srgbClr val="080B12">
                  <a:alpha val="22000"/>
                </a:srgbClr>
              </a:gs>
              <a:gs pos="100000">
                <a:srgbClr val="080B12">
                  <a:alpha val="0"/>
                </a:srgbClr>
              </a:gs>
            </a:gsLst>
            <a:lin ang="0"/>
          </a:gradFill>
          <a:ln xmlns:a="http://schemas.openxmlformats.org/drawingml/2006/main" w="0">
            <a:noFill/>
          </a:ln>
        </p:spPr>
      </p:sp>
      <p:sp>
        <p:nvSpPr>
          <p:cNvPr id="4" name="CUTLINE">
            <a:extLst xmlns:a="http://schemas.openxmlformats.org/drawingml/2006/main">
              <a:ext uri="{FF2B5EF4-FFF2-40B4-BE49-F238E27FC236}">
                <a16:creationId xmlns:a16="http://schemas.microsoft.com/office/drawing/2014/main" id="{453D180C-9B30-4573-B0D0-6A00DDC4D879}"/>
              </a:ext>
            </a:extLst>
          </p:cNvPr>
          <p:cNvSpPr>
            <a:spLocks xmlns:a="http://schemas.openxmlformats.org/drawingml/2006/main" noGrp="1"/>
          </p:cNvSpPr>
          <p:nvPr/>
        </p:nvSpPr>
        <p:spPr>
          <a:xfrm xmlns:a="http://schemas.openxmlformats.org/drawingml/2006/main">
            <a:off x="628650" y="2276475"/>
            <a:ext cx="666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0" b="1">
                <a:solidFill>
                  <a:srgbClr val="F4F3EE"/>
                </a:solidFill>
                <a:latin typeface="Helvetica Neue"/>
                <a:ea typeface="Helvetica Neue"/>
                <a:cs typeface="Helvetica Neue"/>
              </a:defRPr>
            </a:pPr>
            <a:r>
              <a:rPr sz="8250" b="1">
                <a:solidFill>
                  <a:srgbClr val="F4F3EE"/>
                </a:solidFill>
                <a:latin typeface="Helvetica Neue"/>
                <a:ea typeface="Helvetica Neue"/>
                <a:cs typeface="Helvetica Neue"/>
              </a:rPr>
              <a:t>CUTLINE</a:t>
            </a:r>
          </a:p>
        </p:txBody>
      </p:sp>
      <p:sp>
        <p:nvSpPr>
          <p:cNvPr id="5" name="The audience changes everything.">
            <a:extLst xmlns:a="http://schemas.openxmlformats.org/drawingml/2006/main">
              <a:ext uri="{FF2B5EF4-FFF2-40B4-BE49-F238E27FC236}">
                <a16:creationId xmlns:a16="http://schemas.microsoft.com/office/drawing/2014/main" id="{C3826547-19FA-4C38-9588-7DEA5A158408}"/>
              </a:ext>
            </a:extLst>
          </p:cNvPr>
          <p:cNvSpPr>
            <a:spLocks xmlns:a="http://schemas.openxmlformats.org/drawingml/2006/main" noGrp="1"/>
          </p:cNvSpPr>
          <p:nvPr/>
        </p:nvSpPr>
        <p:spPr>
          <a:xfrm xmlns:a="http://schemas.openxmlformats.org/drawingml/2006/main">
            <a:off x="685800" y="3705225"/>
            <a:ext cx="762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AC18C"/>
                </a:solidFill>
                <a:latin typeface="Helvetica Neue"/>
                <a:ea typeface="Helvetica Neue"/>
                <a:cs typeface="Helvetica Neue"/>
              </a:defRPr>
            </a:pPr>
            <a:r>
              <a:rPr sz="2475" b="0">
                <a:solidFill>
                  <a:srgbClr val="EAC18C"/>
                </a:solidFill>
                <a:latin typeface="Helvetica Neue"/>
                <a:ea typeface="Helvetica Neue"/>
                <a:cs typeface="Helvetica Neue"/>
              </a:rPr>
              <a:t>The audience changes everything.</a:t>
            </a:r>
          </a:p>
        </p:txBody>
      </p:sp>
      <p:sp>
        <p:nvSpPr>
          <p:cNvPr id="6" name="Audience-directed live cinema">
            <a:extLst xmlns:a="http://schemas.openxmlformats.org/drawingml/2006/main">
              <a:ext uri="{FF2B5EF4-FFF2-40B4-BE49-F238E27FC236}">
                <a16:creationId xmlns:a16="http://schemas.microsoft.com/office/drawing/2014/main" id="{C4D5A61F-40F6-4AB5-B6AA-2E1DFB862652}"/>
              </a:ext>
            </a:extLst>
          </p:cNvPr>
          <p:cNvSpPr>
            <a:spLocks xmlns:a="http://schemas.openxmlformats.org/drawingml/2006/main" noGrp="1"/>
          </p:cNvSpPr>
          <p:nvPr/>
        </p:nvSpPr>
        <p:spPr>
          <a:xfrm xmlns:a="http://schemas.openxmlformats.org/drawingml/2006/main">
            <a:off x="685800" y="4933950"/>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AFBAC8"/>
                </a:solidFill>
                <a:latin typeface="Helvetica Neue"/>
                <a:ea typeface="Helvetica Neue"/>
                <a:cs typeface="Helvetica Neue"/>
              </a:defRPr>
            </a:pPr>
            <a:r>
              <a:rPr sz="1950" b="0">
                <a:solidFill>
                  <a:srgbClr val="AFBAC8"/>
                </a:solidFill>
                <a:latin typeface="Helvetica Neue"/>
                <a:ea typeface="Helvetica Neue"/>
                <a:cs typeface="Helvetica Neue"/>
              </a:rPr>
              <a:t>Audience-directed live cinema</a:t>
            </a:r>
          </a:p>
        </p:txBody>
      </p:sp>
      <p:sp>
        <p:nvSpPr>
          <p:cNvPr id="7" name="Speculative multiverse artwork">
            <a:extLst xmlns:a="http://schemas.openxmlformats.org/drawingml/2006/main">
              <a:ext uri="{FF2B5EF4-FFF2-40B4-BE49-F238E27FC236}">
                <a16:creationId xmlns:a16="http://schemas.microsoft.com/office/drawing/2014/main" id="{E0235717-F9C8-4BDB-AB9A-6650B76ED7E2}"/>
              </a:ext>
            </a:extLst>
          </p:cNvPr>
          <p:cNvSpPr>
            <a:spLocks xmlns:a="http://schemas.openxmlformats.org/drawingml/2006/main" noGrp="1"/>
          </p:cNvSpPr>
          <p:nvPr/>
        </p:nvSpPr>
        <p:spPr>
          <a:xfrm xmlns:a="http://schemas.openxmlformats.org/drawingml/2006/main">
            <a:off x="685800" y="6276975"/>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Speculative multiverse artwork</a:t>
            </a:r>
          </a:p>
        </p:txBody>
      </p:sp>
    </p:spTree>
    <p:extLst>
      <p:ext uri="{BB962C8B-B14F-4D97-AF65-F5344CB8AC3E}">
        <p14:creationId xmlns:p14="http://schemas.microsoft.com/office/powerpoint/2010/main" val="774237079"/>
      </p:ext>
    </p:extLst>
  </p:cSld>
</p:sld>
</file>

<file path=ppt/slides/slide2.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10" name="02">
            <a:extLst xmlns:a="http://schemas.openxmlformats.org/drawingml/2006/main">
              <a:ext uri="{FF2B5EF4-FFF2-40B4-BE49-F238E27FC236}">
                <a16:creationId xmlns:a16="http://schemas.microsoft.com/office/drawing/2014/main" id="{2C73FE1C-AD74-46B8-B6B6-E443A0EC7008}"/>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4342e4c78334e95"/>
          <a:srcRect xmlns:a="http://schemas.openxmlformats.org/drawingml/2006/main" l="20688" t="0" r="20688" b="0"/>
          <a:stretch xmlns:a="http://schemas.openxmlformats.org/drawingml/2006/main">
            <a:fillRect l="0" t="0" r="0" b="0"/>
          </a:stretch>
        </p:blipFill>
        <p:spPr>
          <a:xfrm xmlns:a="http://schemas.openxmlformats.org/drawingml/2006/main">
            <a:off x="5048250" y="0"/>
            <a:ext cx="71437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C00E3C-C31C-45F1-943B-3DD81D7703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2"/>
              </a:gs>
              <a:gs pos="36000">
                <a:srgbClr val="080B12"/>
              </a:gs>
              <a:gs pos="82000">
                <a:srgbClr val="080B12">
                  <a:alpha val="5000"/>
                </a:srgbClr>
              </a:gs>
            </a:gsLst>
            <a:lin ang="0"/>
          </a:gradFill>
          <a:ln xmlns:a="http://schemas.openxmlformats.org/drawingml/2006/main" w="0">
            <a:noFill/>
          </a:ln>
        </p:spPr>
      </p:sp>
      <p:sp>
        <p:nvSpPr>
          <p:cNvPr id="4" name="A theater becomes&#10;the director">
            <a:extLst xmlns:a="http://schemas.openxmlformats.org/drawingml/2006/main">
              <a:ext uri="{FF2B5EF4-FFF2-40B4-BE49-F238E27FC236}">
                <a16:creationId xmlns:a16="http://schemas.microsoft.com/office/drawing/2014/main" id="{EC1E35CD-248A-4FCB-80C6-41EB6BE43B05}"/>
              </a:ext>
            </a:extLst>
          </p:cNvPr>
          <p:cNvSpPr>
            <a:spLocks xmlns:a="http://schemas.openxmlformats.org/drawingml/2006/main" noGrp="1"/>
          </p:cNvSpPr>
          <p:nvPr/>
        </p:nvSpPr>
        <p:spPr>
          <a:xfrm xmlns:a="http://schemas.openxmlformats.org/drawingml/2006/main">
            <a:off x="628650" y="571500"/>
            <a:ext cx="657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F4F3EE"/>
                </a:solidFill>
                <a:latin typeface="Helvetica Neue"/>
                <a:ea typeface="Helvetica Neue"/>
                <a:cs typeface="Helvetica Neue"/>
              </a:defRPr>
            </a:pPr>
            <a:r>
              <a:rPr sz="3825" b="1">
                <a:solidFill>
                  <a:srgbClr val="F4F3EE"/>
                </a:solidFill>
                <a:latin typeface="Helvetica Neue"/>
                <a:ea typeface="Helvetica Neue"/>
                <a:cs typeface="Helvetica Neue"/>
              </a:rPr>
              <a:t>A theater becomes</a:t>
            </a:r>
          </a:p>
          <a:p xmlns:a="http://schemas.openxmlformats.org/drawingml/2006/main">
            <a:pPr algn="l">
              <a:defRPr sz="3825" b="1">
                <a:solidFill>
                  <a:srgbClr val="F4F3EE"/>
                </a:solidFill>
                <a:latin typeface="Helvetica Neue"/>
                <a:ea typeface="Helvetica Neue"/>
                <a:cs typeface="Helvetica Neue"/>
              </a:defRPr>
            </a:pPr>
            <a:r>
              <a:rPr sz="3825" b="1">
                <a:solidFill>
                  <a:srgbClr val="F4F3EE"/>
                </a:solidFill>
                <a:latin typeface="Helvetica Neue"/>
                <a:ea typeface="Helvetica Neue"/>
                <a:cs typeface="Helvetica Neue"/>
              </a:rPr>
              <a:t>the director</a:t>
            </a:r>
          </a:p>
        </p:txBody>
      </p:sp>
      <p:sp>
        <p:nvSpPr>
          <p:cNvPr id="5" name="One shared film.&#10;A choice on every phone.">
            <a:extLst xmlns:a="http://schemas.openxmlformats.org/drawingml/2006/main">
              <a:ext uri="{FF2B5EF4-FFF2-40B4-BE49-F238E27FC236}">
                <a16:creationId xmlns:a16="http://schemas.microsoft.com/office/drawing/2014/main" id="{1D10B33C-55BF-4DBE-BFD4-E43E3C672B5F}"/>
              </a:ext>
            </a:extLst>
          </p:cNvPr>
          <p:cNvSpPr>
            <a:spLocks xmlns:a="http://schemas.openxmlformats.org/drawingml/2006/main" noGrp="1"/>
          </p:cNvSpPr>
          <p:nvPr/>
        </p:nvSpPr>
        <p:spPr>
          <a:xfrm xmlns:a="http://schemas.openxmlformats.org/drawingml/2006/main">
            <a:off x="647700" y="2238375"/>
            <a:ext cx="4714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AFBAC8"/>
                </a:solidFill>
                <a:latin typeface="Helvetica Neue"/>
                <a:ea typeface="Helvetica Neue"/>
                <a:cs typeface="Helvetica Neue"/>
              </a:defRPr>
            </a:pPr>
            <a:r>
              <a:rPr sz="2250" b="0">
                <a:solidFill>
                  <a:srgbClr val="AFBAC8"/>
                </a:solidFill>
                <a:latin typeface="Helvetica Neue"/>
                <a:ea typeface="Helvetica Neue"/>
                <a:cs typeface="Helvetica Neue"/>
              </a:rPr>
              <a:t>One shared film.</a:t>
            </a:r>
          </a:p>
          <a:p xmlns:a="http://schemas.openxmlformats.org/drawingml/2006/main">
            <a:pPr algn="l">
              <a:defRPr sz="2250" b="0">
                <a:solidFill>
                  <a:srgbClr val="AFBAC8"/>
                </a:solidFill>
                <a:latin typeface="Helvetica Neue"/>
                <a:ea typeface="Helvetica Neue"/>
                <a:cs typeface="Helvetica Neue"/>
              </a:defRPr>
            </a:pPr>
            <a:r>
              <a:rPr sz="2250" b="0">
                <a:solidFill>
                  <a:srgbClr val="AFBAC8"/>
                </a:solidFill>
                <a:latin typeface="Helvetica Neue"/>
                <a:ea typeface="Helvetica Neue"/>
                <a:cs typeface="Helvetica Neue"/>
              </a:rPr>
              <a:t>A choice on every phone.</a:t>
            </a:r>
          </a:p>
        </p:txBody>
      </p:sp>
      <p:sp>
        <p:nvSpPr>
          <p:cNvPr id="6" name="Open the last door">
            <a:extLst xmlns:a="http://schemas.openxmlformats.org/drawingml/2006/main">
              <a:ext uri="{FF2B5EF4-FFF2-40B4-BE49-F238E27FC236}">
                <a16:creationId xmlns:a16="http://schemas.microsoft.com/office/drawing/2014/main" id="{8CAC093B-65C2-4927-89F7-94F5317627EC}"/>
              </a:ext>
            </a:extLst>
          </p:cNvPr>
          <p:cNvSpPr>
            <a:spLocks xmlns:a="http://schemas.openxmlformats.org/drawingml/2006/main" noGrp="1"/>
          </p:cNvSpPr>
          <p:nvPr/>
        </p:nvSpPr>
        <p:spPr>
          <a:xfrm xmlns:a="http://schemas.openxmlformats.org/drawingml/2006/main">
            <a:off x="647700" y="36671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EAC18C"/>
                </a:solidFill>
                <a:latin typeface="Helvetica Neue"/>
                <a:ea typeface="Helvetica Neue"/>
                <a:cs typeface="Helvetica Neue"/>
              </a:defRPr>
            </a:pPr>
            <a:r>
              <a:rPr sz="2400" b="1">
                <a:solidFill>
                  <a:srgbClr val="EAC18C"/>
                </a:solidFill>
                <a:latin typeface="Helvetica Neue"/>
                <a:ea typeface="Helvetica Neue"/>
                <a:cs typeface="Helvetica Neue"/>
              </a:rPr>
              <a:t>Open the last door</a:t>
            </a:r>
          </a:p>
        </p:txBody>
      </p:sp>
      <p:sp>
        <p:nvSpPr>
          <p:cNvPr id="7" name="Follow the flickering light">
            <a:extLst xmlns:a="http://schemas.openxmlformats.org/drawingml/2006/main">
              <a:ext uri="{FF2B5EF4-FFF2-40B4-BE49-F238E27FC236}">
                <a16:creationId xmlns:a16="http://schemas.microsoft.com/office/drawing/2014/main" id="{9E924620-D172-408D-8D52-E88B36204319}"/>
              </a:ext>
            </a:extLst>
          </p:cNvPr>
          <p:cNvSpPr>
            <a:spLocks xmlns:a="http://schemas.openxmlformats.org/drawingml/2006/main" noGrp="1"/>
          </p:cNvSpPr>
          <p:nvPr/>
        </p:nvSpPr>
        <p:spPr>
          <a:xfrm xmlns:a="http://schemas.openxmlformats.org/drawingml/2006/main">
            <a:off x="647700" y="42767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3EE"/>
                </a:solidFill>
                <a:latin typeface="Helvetica Neue"/>
                <a:ea typeface="Helvetica Neue"/>
                <a:cs typeface="Helvetica Neue"/>
              </a:defRPr>
            </a:pPr>
            <a:r>
              <a:rPr sz="2400" b="0">
                <a:solidFill>
                  <a:srgbClr val="F4F3EE"/>
                </a:solidFill>
                <a:latin typeface="Helvetica Neue"/>
                <a:ea typeface="Helvetica Neue"/>
                <a:cs typeface="Helvetica Neue"/>
              </a:rPr>
              <a:t>Follow the flickering light</a:t>
            </a:r>
          </a:p>
        </p:txBody>
      </p:sp>
      <p:sp>
        <p:nvSpPr>
          <p:cNvPr id="8" name="Pull the emergency brake">
            <a:extLst xmlns:a="http://schemas.openxmlformats.org/drawingml/2006/main">
              <a:ext uri="{FF2B5EF4-FFF2-40B4-BE49-F238E27FC236}">
                <a16:creationId xmlns:a16="http://schemas.microsoft.com/office/drawing/2014/main" id="{663FB398-CE7F-42A8-8F7A-725C6716F9B0}"/>
              </a:ext>
            </a:extLst>
          </p:cNvPr>
          <p:cNvSpPr>
            <a:spLocks xmlns:a="http://schemas.openxmlformats.org/drawingml/2006/main" noGrp="1"/>
          </p:cNvSpPr>
          <p:nvPr/>
        </p:nvSpPr>
        <p:spPr>
          <a:xfrm xmlns:a="http://schemas.openxmlformats.org/drawingml/2006/main">
            <a:off x="647700" y="48863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3EE"/>
                </a:solidFill>
                <a:latin typeface="Helvetica Neue"/>
                <a:ea typeface="Helvetica Neue"/>
                <a:cs typeface="Helvetica Neue"/>
              </a:defRPr>
            </a:pPr>
            <a:r>
              <a:rPr sz="2400" b="0">
                <a:solidFill>
                  <a:srgbClr val="F4F3EE"/>
                </a:solidFill>
                <a:latin typeface="Helvetica Neue"/>
                <a:ea typeface="Helvetica Neue"/>
                <a:cs typeface="Helvetica Neue"/>
              </a:rPr>
              <a:t>Pull the emergency brake</a:t>
            </a:r>
          </a:p>
        </p:txBody>
      </p:sp>
      <p:sp>
        <p:nvSpPr>
          <p:cNvPr id="9" name="“The last train” concept still, AI-generated">
            <a:extLst xmlns:a="http://schemas.openxmlformats.org/drawingml/2006/main">
              <a:ext uri="{FF2B5EF4-FFF2-40B4-BE49-F238E27FC236}">
                <a16:creationId xmlns:a16="http://schemas.microsoft.com/office/drawing/2014/main" id="{701AC2F1-9C08-4F75-A08A-8CA47D7A76EE}"/>
              </a:ext>
            </a:extLst>
          </p:cNvPr>
          <p:cNvSpPr>
            <a:spLocks xmlns:a="http://schemas.openxmlformats.org/drawingml/2006/main" noGrp="1"/>
          </p:cNvSpPr>
          <p:nvPr/>
        </p:nvSpPr>
        <p:spPr>
          <a:xfrm xmlns:a="http://schemas.openxmlformats.org/drawingml/2006/main">
            <a:off x="647700" y="6276975"/>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“The last train” concept still, AI-generated</a:t>
            </a:r>
          </a:p>
        </p:txBody>
      </p:sp>
    </p:spTree>
    <p:extLst>
      <p:ext uri="{BB962C8B-B14F-4D97-AF65-F5344CB8AC3E}">
        <p14:creationId xmlns:p14="http://schemas.microsoft.com/office/powerpoint/2010/main" val="2006489570"/>
      </p:ext>
    </p:extLst>
  </p:cSld>
</p:sld>
</file>

<file path=ppt/slides/slide3.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25" name="One canvas, from cosmos to cinema">
            <a:extLst xmlns:a="http://schemas.openxmlformats.org/drawingml/2006/main">
              <a:ext uri="{FF2B5EF4-FFF2-40B4-BE49-F238E27FC236}">
                <a16:creationId xmlns:a16="http://schemas.microsoft.com/office/drawing/2014/main" id="{996ED66E-0FFE-4A04-BF5A-A5BA81900E67}"/>
              </a:ext>
            </a:extLst>
          </p:cNvPr>
          <p:cNvSpPr>
            <a:spLocks xmlns:a="http://schemas.openxmlformats.org/drawingml/2006/main" noGrp="1"/>
          </p:cNvSpPr>
          <p:nvPr/>
        </p:nvSpPr>
        <p:spPr>
          <a:xfrm xmlns:a="http://schemas.openxmlformats.org/drawingml/2006/main">
            <a:off x="628650" y="48577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3EE"/>
                </a:solidFill>
                <a:latin typeface="Helvetica Neue"/>
                <a:ea typeface="Helvetica Neue"/>
                <a:cs typeface="Helvetica Neue"/>
              </a:defRPr>
            </a:pPr>
            <a:r>
              <a:rPr sz="3450" b="1">
                <a:solidFill>
                  <a:srgbClr val="F4F3EE"/>
                </a:solidFill>
                <a:latin typeface="Helvetica Neue"/>
                <a:ea typeface="Helvetica Neue"/>
                <a:cs typeface="Helvetica Neue"/>
              </a:rPr>
              <a:t>One canvas, from cosmos to cinema</a:t>
            </a:r>
          </a:p>
        </p:txBody>
      </p:sp>
      <p:sp>
        <p:nvSpPr>
          <p:cNvPr id="2" name="03">
            <a:extLst xmlns:a="http://schemas.openxmlformats.org/drawingml/2006/main">
              <a:ext uri="{FF2B5EF4-FFF2-40B4-BE49-F238E27FC236}">
                <a16:creationId xmlns:a16="http://schemas.microsoft.com/office/drawing/2014/main" id="{F9FCA173-0399-4B5E-A034-80819566569C}"/>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266c20d771b420d"/>
          <a:stretch xmlns:a="http://schemas.openxmlformats.org/drawingml/2006/main"/>
        </p:blipFill>
        <p:spPr>
          <a:xfrm xmlns:a="http://schemas.openxmlformats.org/drawingml/2006/main">
            <a:off x="748164" y="2095500"/>
            <a:ext cx="1437373" cy="1466850"/>
          </a:xfrm>
          <a:prstGeom xmlns:a="http://schemas.openxmlformats.org/drawingml/2006/main" prst="rect">
            <a:avLst/>
          </a:prstGeom>
        </p:spPr>
      </p:pic>
      <p:sp>
        <p:nvSpPr>
          <p:cNvPr id="4" name="Universe">
            <a:extLst xmlns:a="http://schemas.openxmlformats.org/drawingml/2006/main">
              <a:ext uri="{FF2B5EF4-FFF2-40B4-BE49-F238E27FC236}">
                <a16:creationId xmlns:a16="http://schemas.microsoft.com/office/drawing/2014/main" id="{84E52A15-E02F-4008-9BC6-01DD3CD9F245}"/>
              </a:ext>
            </a:extLst>
          </p:cNvPr>
          <p:cNvSpPr>
            <a:spLocks xmlns:a="http://schemas.openxmlformats.org/drawingml/2006/main" noGrp="1"/>
          </p:cNvSpPr>
          <p:nvPr/>
        </p:nvSpPr>
        <p:spPr>
          <a:xfrm xmlns:a="http://schemas.openxmlformats.org/drawingml/2006/main">
            <a:off x="628650" y="3705225"/>
            <a:ext cx="1762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4F3EE"/>
                </a:solidFill>
                <a:latin typeface="Helvetica Neue"/>
                <a:ea typeface="Helvetica Neue"/>
                <a:cs typeface="Helvetica Neue"/>
              </a:defRPr>
            </a:pPr>
            <a:r>
              <a:rPr sz="1650" b="1">
                <a:solidFill>
                  <a:srgbClr val="F4F3EE"/>
                </a:solidFill>
                <a:latin typeface="Helvetica Neue"/>
                <a:ea typeface="Helvetica Neue"/>
                <a:cs typeface="Helvetica Neue"/>
              </a:rPr>
              <a:t>Universe</a:t>
            </a:r>
          </a:p>
        </p:txBody>
      </p:sp>
      <p:sp>
        <p:nvSpPr>
          <p:cNvPr id="5" name="Infrared observation">
            <a:extLst xmlns:a="http://schemas.openxmlformats.org/drawingml/2006/main">
              <a:ext uri="{FF2B5EF4-FFF2-40B4-BE49-F238E27FC236}">
                <a16:creationId xmlns:a16="http://schemas.microsoft.com/office/drawing/2014/main" id="{9DCB21C6-6EAA-420B-A2C2-B9A60828AB18}"/>
              </a:ext>
            </a:extLst>
          </p:cNvPr>
          <p:cNvSpPr>
            <a:spLocks xmlns:a="http://schemas.openxmlformats.org/drawingml/2006/main" noGrp="1"/>
          </p:cNvSpPr>
          <p:nvPr/>
        </p:nvSpPr>
        <p:spPr>
          <a:xfrm xmlns:a="http://schemas.openxmlformats.org/drawingml/2006/main">
            <a:off x="628650" y="4267200"/>
            <a:ext cx="1743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Infrared observation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cd7f181dbe147c8"/>
          <a:stretch xmlns:a="http://schemas.openxmlformats.org/drawingml/2006/main"/>
        </p:blipFill>
        <p:spPr>
          <a:xfrm xmlns:a="http://schemas.openxmlformats.org/drawingml/2006/main">
            <a:off x="2476500" y="2357438"/>
            <a:ext cx="1676400" cy="942975"/>
          </a:xfrm>
          <a:prstGeom xmlns:a="http://schemas.openxmlformats.org/drawingml/2006/main" prst="rect">
            <a:avLst/>
          </a:prstGeom>
        </p:spPr>
      </p:pic>
      <p:sp>
        <p:nvSpPr>
          <p:cNvPr id="7" name="Cosmic web">
            <a:extLst xmlns:a="http://schemas.openxmlformats.org/drawingml/2006/main">
              <a:ext uri="{FF2B5EF4-FFF2-40B4-BE49-F238E27FC236}">
                <a16:creationId xmlns:a16="http://schemas.microsoft.com/office/drawing/2014/main" id="{44B686CF-CDDF-4997-9B26-17BBD1421180}"/>
              </a:ext>
            </a:extLst>
          </p:cNvPr>
          <p:cNvSpPr>
            <a:spLocks xmlns:a="http://schemas.openxmlformats.org/drawingml/2006/main" noGrp="1"/>
          </p:cNvSpPr>
          <p:nvPr/>
        </p:nvSpPr>
        <p:spPr>
          <a:xfrm xmlns:a="http://schemas.openxmlformats.org/drawingml/2006/main">
            <a:off x="2476500" y="3705225"/>
            <a:ext cx="1762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4F3EE"/>
                </a:solidFill>
                <a:latin typeface="Helvetica Neue"/>
                <a:ea typeface="Helvetica Neue"/>
                <a:cs typeface="Helvetica Neue"/>
              </a:defRPr>
            </a:pPr>
            <a:r>
              <a:rPr sz="1650" b="1">
                <a:solidFill>
                  <a:srgbClr val="F4F3EE"/>
                </a:solidFill>
                <a:latin typeface="Helvetica Neue"/>
                <a:ea typeface="Helvetica Neue"/>
                <a:cs typeface="Helvetica Neue"/>
              </a:rPr>
              <a:t>Cosmic web</a:t>
            </a:r>
          </a:p>
        </p:txBody>
      </p:sp>
      <p:sp>
        <p:nvSpPr>
          <p:cNvPr id="8" name="Scientific simulation">
            <a:extLst xmlns:a="http://schemas.openxmlformats.org/drawingml/2006/main">
              <a:ext uri="{FF2B5EF4-FFF2-40B4-BE49-F238E27FC236}">
                <a16:creationId xmlns:a16="http://schemas.microsoft.com/office/drawing/2014/main" id="{300E6299-8D2C-4607-B801-F5AC6B984C10}"/>
              </a:ext>
            </a:extLst>
          </p:cNvPr>
          <p:cNvSpPr>
            <a:spLocks xmlns:a="http://schemas.openxmlformats.org/drawingml/2006/main" noGrp="1"/>
          </p:cNvSpPr>
          <p:nvPr/>
        </p:nvSpPr>
        <p:spPr>
          <a:xfrm xmlns:a="http://schemas.openxmlformats.org/drawingml/2006/main">
            <a:off x="2476500" y="4267200"/>
            <a:ext cx="1743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Scientific simulation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70313403070406e"/>
          <a:stretch xmlns:a="http://schemas.openxmlformats.org/drawingml/2006/main"/>
        </p:blipFill>
        <p:spPr>
          <a:xfrm xmlns:a="http://schemas.openxmlformats.org/drawingml/2006/main">
            <a:off x="4429125" y="2095500"/>
            <a:ext cx="1466850" cy="1466850"/>
          </a:xfrm>
          <a:prstGeom xmlns:a="http://schemas.openxmlformats.org/drawingml/2006/main" prst="rect">
            <a:avLst/>
          </a:prstGeom>
        </p:spPr>
      </p:pic>
      <p:sp>
        <p:nvSpPr>
          <p:cNvPr id="10" name="Milky Way">
            <a:extLst xmlns:a="http://schemas.openxmlformats.org/drawingml/2006/main">
              <a:ext uri="{FF2B5EF4-FFF2-40B4-BE49-F238E27FC236}">
                <a16:creationId xmlns:a16="http://schemas.microsoft.com/office/drawing/2014/main" id="{AD7A8160-5A36-499B-AE39-5315E5120AC7}"/>
              </a:ext>
            </a:extLst>
          </p:cNvPr>
          <p:cNvSpPr>
            <a:spLocks xmlns:a="http://schemas.openxmlformats.org/drawingml/2006/main" noGrp="1"/>
          </p:cNvSpPr>
          <p:nvPr/>
        </p:nvSpPr>
        <p:spPr>
          <a:xfrm xmlns:a="http://schemas.openxmlformats.org/drawingml/2006/main">
            <a:off x="4324350" y="3705225"/>
            <a:ext cx="1762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4F3EE"/>
                </a:solidFill>
                <a:latin typeface="Helvetica Neue"/>
                <a:ea typeface="Helvetica Neue"/>
                <a:cs typeface="Helvetica Neue"/>
              </a:defRPr>
            </a:pPr>
            <a:r>
              <a:rPr sz="1650" b="1">
                <a:solidFill>
                  <a:srgbClr val="F4F3EE"/>
                </a:solidFill>
                <a:latin typeface="Helvetica Neue"/>
                <a:ea typeface="Helvetica Neue"/>
                <a:cs typeface="Helvetica Neue"/>
              </a:rPr>
              <a:t>Milky Way</a:t>
            </a:r>
          </a:p>
        </p:txBody>
      </p:sp>
      <p:sp>
        <p:nvSpPr>
          <p:cNvPr id="11" name="Artist concept">
            <a:extLst xmlns:a="http://schemas.openxmlformats.org/drawingml/2006/main">
              <a:ext uri="{FF2B5EF4-FFF2-40B4-BE49-F238E27FC236}">
                <a16:creationId xmlns:a16="http://schemas.microsoft.com/office/drawing/2014/main" id="{E688CAE3-9B6C-4021-A5DB-D217B2620B92}"/>
              </a:ext>
            </a:extLst>
          </p:cNvPr>
          <p:cNvSpPr>
            <a:spLocks xmlns:a="http://schemas.openxmlformats.org/drawingml/2006/main" noGrp="1"/>
          </p:cNvSpPr>
          <p:nvPr/>
        </p:nvSpPr>
        <p:spPr>
          <a:xfrm xmlns:a="http://schemas.openxmlformats.org/drawingml/2006/main">
            <a:off x="4324350" y="4267200"/>
            <a:ext cx="1743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Artist concept</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eb50276fa5f4c3c"/>
          <a:stretch xmlns:a="http://schemas.openxmlformats.org/drawingml/2006/main"/>
        </p:blipFill>
        <p:spPr>
          <a:xfrm xmlns:a="http://schemas.openxmlformats.org/drawingml/2006/main">
            <a:off x="6276975" y="2095500"/>
            <a:ext cx="1466850" cy="1466850"/>
          </a:xfrm>
          <a:prstGeom xmlns:a="http://schemas.openxmlformats.org/drawingml/2006/main" prst="rect">
            <a:avLst/>
          </a:prstGeom>
        </p:spPr>
      </p:pic>
      <p:sp>
        <p:nvSpPr>
          <p:cNvPr id="13" name="Solar system">
            <a:extLst xmlns:a="http://schemas.openxmlformats.org/drawingml/2006/main">
              <a:ext uri="{FF2B5EF4-FFF2-40B4-BE49-F238E27FC236}">
                <a16:creationId xmlns:a16="http://schemas.microsoft.com/office/drawing/2014/main" id="{1A6CC4BE-D3D6-401C-BAD9-91D72EE044BF}"/>
              </a:ext>
            </a:extLst>
          </p:cNvPr>
          <p:cNvSpPr>
            <a:spLocks xmlns:a="http://schemas.openxmlformats.org/drawingml/2006/main" noGrp="1"/>
          </p:cNvSpPr>
          <p:nvPr/>
        </p:nvSpPr>
        <p:spPr>
          <a:xfrm xmlns:a="http://schemas.openxmlformats.org/drawingml/2006/main">
            <a:off x="6172200" y="3705225"/>
            <a:ext cx="1762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4F3EE"/>
                </a:solidFill>
                <a:latin typeface="Helvetica Neue"/>
                <a:ea typeface="Helvetica Neue"/>
                <a:cs typeface="Helvetica Neue"/>
              </a:defRPr>
            </a:pPr>
            <a:r>
              <a:rPr sz="1650" b="1">
                <a:solidFill>
                  <a:srgbClr val="F4F3EE"/>
                </a:solidFill>
                <a:latin typeface="Helvetica Neue"/>
                <a:ea typeface="Helvetica Neue"/>
                <a:cs typeface="Helvetica Neue"/>
              </a:rPr>
              <a:t>Solar system</a:t>
            </a:r>
          </a:p>
        </p:txBody>
      </p:sp>
      <p:sp>
        <p:nvSpPr>
          <p:cNvPr id="14" name="Sun, EUV observation">
            <a:extLst xmlns:a="http://schemas.openxmlformats.org/drawingml/2006/main">
              <a:ext uri="{FF2B5EF4-FFF2-40B4-BE49-F238E27FC236}">
                <a16:creationId xmlns:a16="http://schemas.microsoft.com/office/drawing/2014/main" id="{2D172969-CBB8-471B-800B-FD1BFA9CA461}"/>
              </a:ext>
            </a:extLst>
          </p:cNvPr>
          <p:cNvSpPr>
            <a:spLocks xmlns:a="http://schemas.openxmlformats.org/drawingml/2006/main" noGrp="1"/>
          </p:cNvSpPr>
          <p:nvPr/>
        </p:nvSpPr>
        <p:spPr>
          <a:xfrm xmlns:a="http://schemas.openxmlformats.org/drawingml/2006/main">
            <a:off x="6172200" y="4267200"/>
            <a:ext cx="1743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Sun, EUV observation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eb888b035e745cb"/>
          <a:stretch xmlns:a="http://schemas.openxmlformats.org/drawingml/2006/main"/>
        </p:blipFill>
        <p:spPr>
          <a:xfrm xmlns:a="http://schemas.openxmlformats.org/drawingml/2006/main">
            <a:off x="8124825" y="2095500"/>
            <a:ext cx="1466850" cy="1466850"/>
          </a:xfrm>
          <a:prstGeom xmlns:a="http://schemas.openxmlformats.org/drawingml/2006/main" prst="rect">
            <a:avLst/>
          </a:prstGeom>
        </p:spPr>
      </p:pic>
      <p:sp>
        <p:nvSpPr>
          <p:cNvPr id="16" name="Earth">
            <a:extLst xmlns:a="http://schemas.openxmlformats.org/drawingml/2006/main">
              <a:ext uri="{FF2B5EF4-FFF2-40B4-BE49-F238E27FC236}">
                <a16:creationId xmlns:a16="http://schemas.microsoft.com/office/drawing/2014/main" id="{1A801C32-4CD4-4133-A3BF-A80C75FD5260}"/>
              </a:ext>
            </a:extLst>
          </p:cNvPr>
          <p:cNvSpPr>
            <a:spLocks xmlns:a="http://schemas.openxmlformats.org/drawingml/2006/main" noGrp="1"/>
          </p:cNvSpPr>
          <p:nvPr/>
        </p:nvSpPr>
        <p:spPr>
          <a:xfrm xmlns:a="http://schemas.openxmlformats.org/drawingml/2006/main">
            <a:off x="8020050" y="3705225"/>
            <a:ext cx="1762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4F3EE"/>
                </a:solidFill>
                <a:latin typeface="Helvetica Neue"/>
                <a:ea typeface="Helvetica Neue"/>
                <a:cs typeface="Helvetica Neue"/>
              </a:defRPr>
            </a:pPr>
            <a:r>
              <a:rPr sz="1650" b="1">
                <a:solidFill>
                  <a:srgbClr val="F4F3EE"/>
                </a:solidFill>
                <a:latin typeface="Helvetica Neue"/>
                <a:ea typeface="Helvetica Neue"/>
                <a:cs typeface="Helvetica Neue"/>
              </a:rPr>
              <a:t>Earth</a:t>
            </a:r>
          </a:p>
        </p:txBody>
      </p:sp>
      <p:sp>
        <p:nvSpPr>
          <p:cNvPr id="17" name="Apollo 17 photograph">
            <a:extLst xmlns:a="http://schemas.openxmlformats.org/drawingml/2006/main">
              <a:ext uri="{FF2B5EF4-FFF2-40B4-BE49-F238E27FC236}">
                <a16:creationId xmlns:a16="http://schemas.microsoft.com/office/drawing/2014/main" id="{98B919E3-A5A2-4141-AE30-5B4B5B4C7FD9}"/>
              </a:ext>
            </a:extLst>
          </p:cNvPr>
          <p:cNvSpPr>
            <a:spLocks xmlns:a="http://schemas.openxmlformats.org/drawingml/2006/main" noGrp="1"/>
          </p:cNvSpPr>
          <p:nvPr/>
        </p:nvSpPr>
        <p:spPr>
          <a:xfrm xmlns:a="http://schemas.openxmlformats.org/drawingml/2006/main">
            <a:off x="8020050" y="4267200"/>
            <a:ext cx="1743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Apollo 17 photograph</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456a139250d42f2"/>
          <a:stretch xmlns:a="http://schemas.openxmlformats.org/drawingml/2006/main"/>
        </p:blipFill>
        <p:spPr>
          <a:xfrm xmlns:a="http://schemas.openxmlformats.org/drawingml/2006/main">
            <a:off x="9867900" y="2270125"/>
            <a:ext cx="1676400" cy="1117600"/>
          </a:xfrm>
          <a:prstGeom xmlns:a="http://schemas.openxmlformats.org/drawingml/2006/main" prst="rect">
            <a:avLst/>
          </a:prstGeom>
        </p:spPr>
      </p:pic>
      <p:sp>
        <p:nvSpPr>
          <p:cNvPr id="19" name="San Francisco">
            <a:extLst xmlns:a="http://schemas.openxmlformats.org/drawingml/2006/main">
              <a:ext uri="{FF2B5EF4-FFF2-40B4-BE49-F238E27FC236}">
                <a16:creationId xmlns:a16="http://schemas.microsoft.com/office/drawing/2014/main" id="{083D5183-FEEE-443D-9DF9-4E59B3AD5C51}"/>
              </a:ext>
            </a:extLst>
          </p:cNvPr>
          <p:cNvSpPr>
            <a:spLocks xmlns:a="http://schemas.openxmlformats.org/drawingml/2006/main" noGrp="1"/>
          </p:cNvSpPr>
          <p:nvPr/>
        </p:nvSpPr>
        <p:spPr>
          <a:xfrm xmlns:a="http://schemas.openxmlformats.org/drawingml/2006/main">
            <a:off x="9867900" y="3705225"/>
            <a:ext cx="1762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4F3EE"/>
                </a:solidFill>
                <a:latin typeface="Helvetica Neue"/>
                <a:ea typeface="Helvetica Neue"/>
                <a:cs typeface="Helvetica Neue"/>
              </a:defRPr>
            </a:pPr>
            <a:r>
              <a:rPr sz="1650" b="1">
                <a:solidFill>
                  <a:srgbClr val="F4F3EE"/>
                </a:solidFill>
                <a:latin typeface="Helvetica Neue"/>
                <a:ea typeface="Helvetica Neue"/>
                <a:cs typeface="Helvetica Neue"/>
              </a:rPr>
              <a:t>San Francisco</a:t>
            </a:r>
          </a:p>
        </p:txBody>
      </p:sp>
      <p:sp>
        <p:nvSpPr>
          <p:cNvPr id="20" name="ISS photograph">
            <a:extLst xmlns:a="http://schemas.openxmlformats.org/drawingml/2006/main">
              <a:ext uri="{FF2B5EF4-FFF2-40B4-BE49-F238E27FC236}">
                <a16:creationId xmlns:a16="http://schemas.microsoft.com/office/drawing/2014/main" id="{5516DC9D-384E-4D49-8456-3C0873E13F9F}"/>
              </a:ext>
            </a:extLst>
          </p:cNvPr>
          <p:cNvSpPr>
            <a:spLocks xmlns:a="http://schemas.openxmlformats.org/drawingml/2006/main" noGrp="1"/>
          </p:cNvSpPr>
          <p:nvPr/>
        </p:nvSpPr>
        <p:spPr>
          <a:xfrm xmlns:a="http://schemas.openxmlformats.org/drawingml/2006/main">
            <a:off x="9867900" y="4267200"/>
            <a:ext cx="1743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ISS photograph</a:t>
            </a:r>
          </a:p>
        </p:txBody>
      </p:sp>
      <p:sp>
        <p:nvSpPr>
          <p:cNvPr id="21" name="Click a destination. The camera travels.">
            <a:extLst xmlns:a="http://schemas.openxmlformats.org/drawingml/2006/main">
              <a:ext uri="{FF2B5EF4-FFF2-40B4-BE49-F238E27FC236}">
                <a16:creationId xmlns:a16="http://schemas.microsoft.com/office/drawing/2014/main" id="{F0EADACD-6D84-482D-B61A-745ADD32610F}"/>
              </a:ext>
            </a:extLst>
          </p:cNvPr>
          <p:cNvSpPr>
            <a:spLocks xmlns:a="http://schemas.openxmlformats.org/drawingml/2006/main" noGrp="1"/>
          </p:cNvSpPr>
          <p:nvPr/>
        </p:nvSpPr>
        <p:spPr>
          <a:xfrm xmlns:a="http://schemas.openxmlformats.org/drawingml/2006/main">
            <a:off x="628650" y="13811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C18C"/>
                </a:solidFill>
                <a:latin typeface="Helvetica Neue"/>
                <a:ea typeface="Helvetica Neue"/>
                <a:cs typeface="Helvetica Neue"/>
              </a:defRPr>
            </a:pPr>
            <a:r>
              <a:rPr sz="2175" b="1">
                <a:solidFill>
                  <a:srgbClr val="EAC18C"/>
                </a:solidFill>
                <a:latin typeface="Helvetica Neue"/>
                <a:ea typeface="Helvetica Neue"/>
                <a:cs typeface="Helvetica Neue"/>
              </a:rPr>
              <a:t>Click a destination. The camera travels.</a:t>
            </a:r>
          </a:p>
        </p:txBody>
      </p:sp>
      <p:sp>
        <p:nvSpPr>
          <p:cNvPr id="22" name="NASA texture on the Earth sphere">
            <a:extLst xmlns:a="http://schemas.openxmlformats.org/drawingml/2006/main">
              <a:ext uri="{FF2B5EF4-FFF2-40B4-BE49-F238E27FC236}">
                <a16:creationId xmlns:a16="http://schemas.microsoft.com/office/drawing/2014/main" id="{BB16B8AB-942F-4974-BBF2-0DFA05C8FAE2}"/>
              </a:ext>
            </a:extLst>
          </p:cNvPr>
          <p:cNvSpPr>
            <a:spLocks xmlns:a="http://schemas.openxmlformats.org/drawingml/2006/main" noGrp="1"/>
          </p:cNvSpPr>
          <p:nvPr/>
        </p:nvSpPr>
        <p:spPr>
          <a:xfrm xmlns:a="http://schemas.openxmlformats.org/drawingml/2006/main">
            <a:off x="628650" y="5200650"/>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C18C"/>
                </a:solidFill>
                <a:latin typeface="Helvetica Neue"/>
                <a:ea typeface="Helvetica Neue"/>
                <a:cs typeface="Helvetica Neue"/>
              </a:defRPr>
            </a:pPr>
            <a:r>
              <a:rPr sz="2175" b="1">
                <a:solidFill>
                  <a:srgbClr val="EAC18C"/>
                </a:solidFill>
                <a:latin typeface="Helvetica Neue"/>
                <a:ea typeface="Helvetica Neue"/>
                <a:cs typeface="Helvetica Neue"/>
              </a:rPr>
              <a:t>NASA texture on the Earth sphere</a:t>
            </a:r>
          </a:p>
        </p:txBody>
      </p:sp>
      <p:sp>
        <p:nvSpPr>
          <p:cNvPr id="23" name="Original San Francisco aerial plane">
            <a:extLst xmlns:a="http://schemas.openxmlformats.org/drawingml/2006/main">
              <a:ext uri="{FF2B5EF4-FFF2-40B4-BE49-F238E27FC236}">
                <a16:creationId xmlns:a16="http://schemas.microsoft.com/office/drawing/2014/main" id="{63C9EF7E-FE46-4537-A130-E08CB0E7FB53}"/>
              </a:ext>
            </a:extLst>
          </p:cNvPr>
          <p:cNvSpPr>
            <a:spLocks xmlns:a="http://schemas.openxmlformats.org/drawingml/2006/main" noGrp="1"/>
          </p:cNvSpPr>
          <p:nvPr/>
        </p:nvSpPr>
        <p:spPr>
          <a:xfrm xmlns:a="http://schemas.openxmlformats.org/drawingml/2006/main">
            <a:off x="6438900" y="5200650"/>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C18C"/>
                </a:solidFill>
                <a:latin typeface="Helvetica Neue"/>
                <a:ea typeface="Helvetica Neue"/>
                <a:cs typeface="Helvetica Neue"/>
              </a:defRPr>
            </a:pPr>
            <a:r>
              <a:rPr sz="2175" b="1">
                <a:solidFill>
                  <a:srgbClr val="EAC18C"/>
                </a:solidFill>
                <a:latin typeface="Helvetica Neue"/>
                <a:ea typeface="Helvetica Neue"/>
                <a:cs typeface="Helvetica Neue"/>
              </a:rPr>
              <a:t>Original San Francisco aerial plane</a:t>
            </a:r>
          </a:p>
        </p:txBody>
      </p:sp>
      <p:sp>
        <p:nvSpPr>
          <p:cNvPr id="24" name="Source references shown here. The app uses on">
            <a:extLst xmlns:a="http://schemas.openxmlformats.org/drawingml/2006/main">
              <a:ext uri="{FF2B5EF4-FFF2-40B4-BE49-F238E27FC236}">
                <a16:creationId xmlns:a16="http://schemas.microsoft.com/office/drawing/2014/main" id="{C686912E-1C84-429A-81FF-9E52F1536810}"/>
              </a:ext>
            </a:extLst>
          </p:cNvPr>
          <p:cNvSpPr>
            <a:spLocks xmlns:a="http://schemas.openxmlformats.org/drawingml/2006/main" noGrp="1"/>
          </p:cNvSpPr>
          <p:nvPr/>
        </p:nvSpPr>
        <p:spPr>
          <a:xfrm xmlns:a="http://schemas.openxmlformats.org/drawingml/2006/main">
            <a:off x="628650" y="624840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FBAC8"/>
                </a:solidFill>
                <a:latin typeface="Helvetica Neue"/>
                <a:ea typeface="Helvetica Neue"/>
                <a:cs typeface="Helvetica Neue"/>
              </a:defRPr>
            </a:pPr>
            <a:r>
              <a:rPr sz="1125" b="0">
                <a:solidFill>
                  <a:srgbClr val="AFBAC8"/>
                </a:solidFill>
                <a:latin typeface="Helvetica Neue"/>
                <a:ea typeface="Helvetica Neue"/>
                <a:cs typeface="Helvetica Neue"/>
              </a:rPr>
              <a:t>Source references shown here. The app uses one Three.js canvas with cinematic, compressed scales. Orbis begins in the fictional film.</a:t>
            </a:r>
          </a:p>
        </p:txBody>
      </p:sp>
    </p:spTree>
    <p:extLst>
      <p:ext uri="{BB962C8B-B14F-4D97-AF65-F5344CB8AC3E}">
        <p14:creationId xmlns:p14="http://schemas.microsoft.com/office/powerpoint/2010/main" val="1145911355"/>
      </p:ext>
    </p:extLst>
  </p:cSld>
</p:sld>
</file>

<file path=ppt/slides/slide4.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16" name="One decision, one shared result">
            <a:extLst xmlns:a="http://schemas.openxmlformats.org/drawingml/2006/main">
              <a:ext uri="{FF2B5EF4-FFF2-40B4-BE49-F238E27FC236}">
                <a16:creationId xmlns:a16="http://schemas.microsoft.com/office/drawing/2014/main" id="{06B1689A-0F6F-4B3F-9698-C621AF027DDC}"/>
              </a:ext>
            </a:extLst>
          </p:cNvPr>
          <p:cNvSpPr>
            <a:spLocks xmlns:a="http://schemas.openxmlformats.org/drawingml/2006/main" noGrp="1"/>
          </p:cNvSpPr>
          <p:nvPr/>
        </p:nvSpPr>
        <p:spPr>
          <a:xfrm xmlns:a="http://schemas.openxmlformats.org/drawingml/2006/main">
            <a:off x="628650" y="48577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3EE"/>
                </a:solidFill>
                <a:latin typeface="Helvetica Neue"/>
                <a:ea typeface="Helvetica Neue"/>
                <a:cs typeface="Helvetica Neue"/>
              </a:defRPr>
            </a:pPr>
            <a:r>
              <a:rPr sz="3450" b="1">
                <a:solidFill>
                  <a:srgbClr val="F4F3EE"/>
                </a:solidFill>
                <a:latin typeface="Helvetica Neue"/>
                <a:ea typeface="Helvetica Neue"/>
                <a:cs typeface="Helvetica Neue"/>
              </a:rPr>
              <a:t>One decision, one shared result</a:t>
            </a:r>
          </a:p>
        </p:txBody>
      </p:sp>
      <p:sp>
        <p:nvSpPr>
          <p:cNvPr id="2" name="04">
            <a:extLst xmlns:a="http://schemas.openxmlformats.org/drawingml/2006/main">
              <a:ext uri="{FF2B5EF4-FFF2-40B4-BE49-F238E27FC236}">
                <a16:creationId xmlns:a16="http://schemas.microsoft.com/office/drawing/2014/main" id="{4FB6F4E1-72DB-4F3E-9AA5-99C7EA5CA3C9}"/>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04</a:t>
            </a:r>
          </a:p>
        </p:txBody>
      </p:sp>
      <p:sp>
        <p:nvSpPr>
          <p:cNvPr id="3" name="01">
            <a:extLst xmlns:a="http://schemas.openxmlformats.org/drawingml/2006/main">
              <a:ext uri="{FF2B5EF4-FFF2-40B4-BE49-F238E27FC236}">
                <a16:creationId xmlns:a16="http://schemas.microsoft.com/office/drawing/2014/main" id="{F690DC85-2300-40BF-8396-F4598157343C}"/>
              </a:ext>
            </a:extLst>
          </p:cNvPr>
          <p:cNvSpPr>
            <a:spLocks xmlns:a="http://schemas.openxmlformats.org/drawingml/2006/main" noGrp="1"/>
          </p:cNvSpPr>
          <p:nvPr/>
        </p:nvSpPr>
        <p:spPr>
          <a:xfrm xmlns:a="http://schemas.openxmlformats.org/drawingml/2006/main">
            <a:off x="628650" y="1857375"/>
            <a:ext cx="200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0">
                <a:solidFill>
                  <a:srgbClr val="EAC18C"/>
                </a:solidFill>
                <a:latin typeface="Helvetica Neue"/>
                <a:ea typeface="Helvetica Neue"/>
                <a:cs typeface="Helvetica Neue"/>
              </a:defRPr>
            </a:pPr>
            <a:r>
              <a:rPr sz="4500" b="0">
                <a:solidFill>
                  <a:srgbClr val="EAC18C"/>
                </a:solidFill>
                <a:latin typeface="Helvetica Neue"/>
                <a:ea typeface="Helvetica Neue"/>
                <a:cs typeface="Helvetica Neue"/>
              </a:rPr>
              <a:t>01</a:t>
            </a:r>
          </a:p>
        </p:txBody>
      </p:sp>
      <p:sp>
        <p:nvSpPr>
          <p:cNvPr id="4" name="Open">
            <a:extLst xmlns:a="http://schemas.openxmlformats.org/drawingml/2006/main">
              <a:ext uri="{FF2B5EF4-FFF2-40B4-BE49-F238E27FC236}">
                <a16:creationId xmlns:a16="http://schemas.microsoft.com/office/drawing/2014/main" id="{2F7F993A-5BB4-4C32-91D5-90C1326CBF3C}"/>
              </a:ext>
            </a:extLst>
          </p:cNvPr>
          <p:cNvSpPr>
            <a:spLocks xmlns:a="http://schemas.openxmlformats.org/drawingml/2006/main" noGrp="1"/>
          </p:cNvSpPr>
          <p:nvPr/>
        </p:nvSpPr>
        <p:spPr>
          <a:xfrm xmlns:a="http://schemas.openxmlformats.org/drawingml/2006/main">
            <a:off x="628650" y="2828925"/>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4F3EE"/>
                </a:solidFill>
                <a:latin typeface="Helvetica Neue"/>
                <a:ea typeface="Helvetica Neue"/>
                <a:cs typeface="Helvetica Neue"/>
              </a:defRPr>
            </a:pPr>
            <a:r>
              <a:rPr sz="3000" b="1">
                <a:solidFill>
                  <a:srgbClr val="F4F3EE"/>
                </a:solidFill>
                <a:latin typeface="Helvetica Neue"/>
                <a:ea typeface="Helvetica Neue"/>
                <a:cs typeface="Helvetica Neue"/>
              </a:rPr>
              <a:t>Open</a:t>
            </a:r>
          </a:p>
        </p:txBody>
      </p:sp>
      <p:sp>
        <p:nvSpPr>
          <p:cNvPr id="5" name="Host opens the&#10;scene’s poll.">
            <a:extLst xmlns:a="http://schemas.openxmlformats.org/drawingml/2006/main">
              <a:ext uri="{FF2B5EF4-FFF2-40B4-BE49-F238E27FC236}">
                <a16:creationId xmlns:a16="http://schemas.microsoft.com/office/drawing/2014/main" id="{1DBF04C1-62B7-4236-8BEA-DD0499CEBAEF}"/>
              </a:ext>
            </a:extLst>
          </p:cNvPr>
          <p:cNvSpPr>
            <a:spLocks xmlns:a="http://schemas.openxmlformats.org/drawingml/2006/main" noGrp="1"/>
          </p:cNvSpPr>
          <p:nvPr/>
        </p:nvSpPr>
        <p:spPr>
          <a:xfrm xmlns:a="http://schemas.openxmlformats.org/drawingml/2006/main">
            <a:off x="628650" y="3714750"/>
            <a:ext cx="228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Host opens the</a:t>
            </a:r>
          </a:p>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scene’s poll.</a:t>
            </a:r>
          </a:p>
        </p:txBody>
      </p:sp>
      <p:sp>
        <p:nvSpPr>
          <p:cNvPr id="6" name="02">
            <a:extLst xmlns:a="http://schemas.openxmlformats.org/drawingml/2006/main">
              <a:ext uri="{FF2B5EF4-FFF2-40B4-BE49-F238E27FC236}">
                <a16:creationId xmlns:a16="http://schemas.microsoft.com/office/drawing/2014/main" id="{1B265BA8-D747-4EA7-8CDE-79FCC8FBC054}"/>
              </a:ext>
            </a:extLst>
          </p:cNvPr>
          <p:cNvSpPr>
            <a:spLocks xmlns:a="http://schemas.openxmlformats.org/drawingml/2006/main" noGrp="1"/>
          </p:cNvSpPr>
          <p:nvPr/>
        </p:nvSpPr>
        <p:spPr>
          <a:xfrm xmlns:a="http://schemas.openxmlformats.org/drawingml/2006/main">
            <a:off x="3533775" y="1857375"/>
            <a:ext cx="200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0">
                <a:solidFill>
                  <a:srgbClr val="EAC18C"/>
                </a:solidFill>
                <a:latin typeface="Helvetica Neue"/>
                <a:ea typeface="Helvetica Neue"/>
                <a:cs typeface="Helvetica Neue"/>
              </a:defRPr>
            </a:pPr>
            <a:r>
              <a:rPr sz="4500" b="0">
                <a:solidFill>
                  <a:srgbClr val="EAC18C"/>
                </a:solidFill>
                <a:latin typeface="Helvetica Neue"/>
                <a:ea typeface="Helvetica Neue"/>
                <a:cs typeface="Helvetica Neue"/>
              </a:rPr>
              <a:t>02</a:t>
            </a:r>
          </a:p>
        </p:txBody>
      </p:sp>
      <p:sp>
        <p:nvSpPr>
          <p:cNvPr id="7" name="Vote">
            <a:extLst xmlns:a="http://schemas.openxmlformats.org/drawingml/2006/main">
              <a:ext uri="{FF2B5EF4-FFF2-40B4-BE49-F238E27FC236}">
                <a16:creationId xmlns:a16="http://schemas.microsoft.com/office/drawing/2014/main" id="{A602FB92-28E6-42CB-A2AD-03AA24C338EC}"/>
              </a:ext>
            </a:extLst>
          </p:cNvPr>
          <p:cNvSpPr>
            <a:spLocks xmlns:a="http://schemas.openxmlformats.org/drawingml/2006/main" noGrp="1"/>
          </p:cNvSpPr>
          <p:nvPr/>
        </p:nvSpPr>
        <p:spPr>
          <a:xfrm xmlns:a="http://schemas.openxmlformats.org/drawingml/2006/main">
            <a:off x="3533775" y="2828925"/>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4F3EE"/>
                </a:solidFill>
                <a:latin typeface="Helvetica Neue"/>
                <a:ea typeface="Helvetica Neue"/>
                <a:cs typeface="Helvetica Neue"/>
              </a:defRPr>
            </a:pPr>
            <a:r>
              <a:rPr sz="3000" b="1">
                <a:solidFill>
                  <a:srgbClr val="F4F3EE"/>
                </a:solidFill>
                <a:latin typeface="Helvetica Neue"/>
                <a:ea typeface="Helvetica Neue"/>
                <a:cs typeface="Helvetica Neue"/>
              </a:rPr>
              <a:t>Vote</a:t>
            </a:r>
          </a:p>
        </p:txBody>
      </p:sp>
      <p:sp>
        <p:nvSpPr>
          <p:cNvPr id="8" name="Each viewer can&#10;replace their ballot.">
            <a:extLst xmlns:a="http://schemas.openxmlformats.org/drawingml/2006/main">
              <a:ext uri="{FF2B5EF4-FFF2-40B4-BE49-F238E27FC236}">
                <a16:creationId xmlns:a16="http://schemas.microsoft.com/office/drawing/2014/main" id="{12DA2782-550C-4E46-9F69-8ABEC1AF514D}"/>
              </a:ext>
            </a:extLst>
          </p:cNvPr>
          <p:cNvSpPr>
            <a:spLocks xmlns:a="http://schemas.openxmlformats.org/drawingml/2006/main" noGrp="1"/>
          </p:cNvSpPr>
          <p:nvPr/>
        </p:nvSpPr>
        <p:spPr>
          <a:xfrm xmlns:a="http://schemas.openxmlformats.org/drawingml/2006/main">
            <a:off x="3533775" y="3714750"/>
            <a:ext cx="228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Each viewer can</a:t>
            </a:r>
          </a:p>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replace their ballot.</a:t>
            </a:r>
          </a:p>
        </p:txBody>
      </p:sp>
      <p:sp>
        <p:nvSpPr>
          <p:cNvPr id="9" name="03">
            <a:extLst xmlns:a="http://schemas.openxmlformats.org/drawingml/2006/main">
              <a:ext uri="{FF2B5EF4-FFF2-40B4-BE49-F238E27FC236}">
                <a16:creationId xmlns:a16="http://schemas.microsoft.com/office/drawing/2014/main" id="{1F6EC724-F2F0-4C19-83CD-C1012659D4BB}"/>
              </a:ext>
            </a:extLst>
          </p:cNvPr>
          <p:cNvSpPr>
            <a:spLocks xmlns:a="http://schemas.openxmlformats.org/drawingml/2006/main" noGrp="1"/>
          </p:cNvSpPr>
          <p:nvPr/>
        </p:nvSpPr>
        <p:spPr>
          <a:xfrm xmlns:a="http://schemas.openxmlformats.org/drawingml/2006/main">
            <a:off x="6438900" y="1857375"/>
            <a:ext cx="200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0">
                <a:solidFill>
                  <a:srgbClr val="EAC18C"/>
                </a:solidFill>
                <a:latin typeface="Helvetica Neue"/>
                <a:ea typeface="Helvetica Neue"/>
                <a:cs typeface="Helvetica Neue"/>
              </a:defRPr>
            </a:pPr>
            <a:r>
              <a:rPr sz="4500" b="0">
                <a:solidFill>
                  <a:srgbClr val="EAC18C"/>
                </a:solidFill>
                <a:latin typeface="Helvetica Neue"/>
                <a:ea typeface="Helvetica Neue"/>
                <a:cs typeface="Helvetica Neue"/>
              </a:rPr>
              <a:t>03</a:t>
            </a:r>
          </a:p>
        </p:txBody>
      </p:sp>
      <p:sp>
        <p:nvSpPr>
          <p:cNvPr id="10" name="Close">
            <a:extLst xmlns:a="http://schemas.openxmlformats.org/drawingml/2006/main">
              <a:ext uri="{FF2B5EF4-FFF2-40B4-BE49-F238E27FC236}">
                <a16:creationId xmlns:a16="http://schemas.microsoft.com/office/drawing/2014/main" id="{37FA5311-69B1-4D77-B034-312499C15A35}"/>
              </a:ext>
            </a:extLst>
          </p:cNvPr>
          <p:cNvSpPr>
            <a:spLocks xmlns:a="http://schemas.openxmlformats.org/drawingml/2006/main" noGrp="1"/>
          </p:cNvSpPr>
          <p:nvPr/>
        </p:nvSpPr>
        <p:spPr>
          <a:xfrm xmlns:a="http://schemas.openxmlformats.org/drawingml/2006/main">
            <a:off x="6438900" y="2828925"/>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4F3EE"/>
                </a:solidFill>
                <a:latin typeface="Helvetica Neue"/>
                <a:ea typeface="Helvetica Neue"/>
                <a:cs typeface="Helvetica Neue"/>
              </a:defRPr>
            </a:pPr>
            <a:r>
              <a:rPr sz="3000" b="1">
                <a:solidFill>
                  <a:srgbClr val="F4F3EE"/>
                </a:solidFill>
                <a:latin typeface="Helvetica Neue"/>
                <a:ea typeface="Helvetica Neue"/>
                <a:cs typeface="Helvetica Neue"/>
              </a:rPr>
              <a:t>Close</a:t>
            </a:r>
          </a:p>
        </p:txBody>
      </p:sp>
      <p:sp>
        <p:nvSpPr>
          <p:cNvPr id="11" name="The database freezes&#10;the final tally.">
            <a:extLst xmlns:a="http://schemas.openxmlformats.org/drawingml/2006/main">
              <a:ext uri="{FF2B5EF4-FFF2-40B4-BE49-F238E27FC236}">
                <a16:creationId xmlns:a16="http://schemas.microsoft.com/office/drawing/2014/main" id="{D382FF6D-6DFA-43CB-AC7B-C5E76D2F89A7}"/>
              </a:ext>
            </a:extLst>
          </p:cNvPr>
          <p:cNvSpPr>
            <a:spLocks xmlns:a="http://schemas.openxmlformats.org/drawingml/2006/main" noGrp="1"/>
          </p:cNvSpPr>
          <p:nvPr/>
        </p:nvSpPr>
        <p:spPr>
          <a:xfrm xmlns:a="http://schemas.openxmlformats.org/drawingml/2006/main">
            <a:off x="6438900" y="3714750"/>
            <a:ext cx="228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The database freezes</a:t>
            </a:r>
          </a:p>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the final tally.</a:t>
            </a:r>
          </a:p>
        </p:txBody>
      </p:sp>
      <p:sp>
        <p:nvSpPr>
          <p:cNvPr id="12" name="04">
            <a:extLst xmlns:a="http://schemas.openxmlformats.org/drawingml/2006/main">
              <a:ext uri="{FF2B5EF4-FFF2-40B4-BE49-F238E27FC236}">
                <a16:creationId xmlns:a16="http://schemas.microsoft.com/office/drawing/2014/main" id="{7534DB87-8F20-498B-A2FC-1DAFBD2CD12A}"/>
              </a:ext>
            </a:extLst>
          </p:cNvPr>
          <p:cNvSpPr>
            <a:spLocks xmlns:a="http://schemas.openxmlformats.org/drawingml/2006/main" noGrp="1"/>
          </p:cNvSpPr>
          <p:nvPr/>
        </p:nvSpPr>
        <p:spPr>
          <a:xfrm xmlns:a="http://schemas.openxmlformats.org/drawingml/2006/main">
            <a:off x="9344025" y="1857375"/>
            <a:ext cx="2000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0">
                <a:solidFill>
                  <a:srgbClr val="EAC18C"/>
                </a:solidFill>
                <a:latin typeface="Helvetica Neue"/>
                <a:ea typeface="Helvetica Neue"/>
                <a:cs typeface="Helvetica Neue"/>
              </a:defRPr>
            </a:pPr>
            <a:r>
              <a:rPr sz="4500" b="0">
                <a:solidFill>
                  <a:srgbClr val="EAC18C"/>
                </a:solidFill>
                <a:latin typeface="Helvetica Neue"/>
                <a:ea typeface="Helvetica Neue"/>
                <a:cs typeface="Helvetica Neue"/>
              </a:rPr>
              <a:t>04</a:t>
            </a:r>
          </a:p>
        </p:txBody>
      </p:sp>
      <p:sp>
        <p:nvSpPr>
          <p:cNvPr id="13" name="Apply">
            <a:extLst xmlns:a="http://schemas.openxmlformats.org/drawingml/2006/main">
              <a:ext uri="{FF2B5EF4-FFF2-40B4-BE49-F238E27FC236}">
                <a16:creationId xmlns:a16="http://schemas.microsoft.com/office/drawing/2014/main" id="{D87249F3-CF6F-4D77-A72C-AFABD0265BEC}"/>
              </a:ext>
            </a:extLst>
          </p:cNvPr>
          <p:cNvSpPr>
            <a:spLocks xmlns:a="http://schemas.openxmlformats.org/drawingml/2006/main" noGrp="1"/>
          </p:cNvSpPr>
          <p:nvPr/>
        </p:nvSpPr>
        <p:spPr>
          <a:xfrm xmlns:a="http://schemas.openxmlformats.org/drawingml/2006/main">
            <a:off x="9344025" y="2828925"/>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4F3EE"/>
                </a:solidFill>
                <a:latin typeface="Helvetica Neue"/>
                <a:ea typeface="Helvetica Neue"/>
                <a:cs typeface="Helvetica Neue"/>
              </a:defRPr>
            </a:pPr>
            <a:r>
              <a:rPr sz="3000" b="1">
                <a:solidFill>
                  <a:srgbClr val="F4F3EE"/>
                </a:solidFill>
                <a:latin typeface="Helvetica Neue"/>
                <a:ea typeface="Helvetica Neue"/>
                <a:cs typeface="Helvetica Neue"/>
              </a:rPr>
              <a:t>Apply</a:t>
            </a:r>
          </a:p>
        </p:txBody>
      </p:sp>
      <p:sp>
        <p:nvSpPr>
          <p:cNvPr id="14" name="Host applies the&#10;winner once.">
            <a:extLst xmlns:a="http://schemas.openxmlformats.org/drawingml/2006/main">
              <a:ext uri="{FF2B5EF4-FFF2-40B4-BE49-F238E27FC236}">
                <a16:creationId xmlns:a16="http://schemas.microsoft.com/office/drawing/2014/main" id="{4D157AF4-CBB6-40CA-A18E-B19C083AC025}"/>
              </a:ext>
            </a:extLst>
          </p:cNvPr>
          <p:cNvSpPr>
            <a:spLocks xmlns:a="http://schemas.openxmlformats.org/drawingml/2006/main" noGrp="1"/>
          </p:cNvSpPr>
          <p:nvPr/>
        </p:nvSpPr>
        <p:spPr>
          <a:xfrm xmlns:a="http://schemas.openxmlformats.org/drawingml/2006/main">
            <a:off x="9344025" y="3714750"/>
            <a:ext cx="228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Host applies the</a:t>
            </a:r>
          </a:p>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winner once.</a:t>
            </a:r>
          </a:p>
        </p:txBody>
      </p:sp>
      <p:sp>
        <p:nvSpPr>
          <p:cNvPr id="15" name="Ties follow the visible choice order. A poll ">
            <a:extLst xmlns:a="http://schemas.openxmlformats.org/drawingml/2006/main">
              <a:ext uri="{FF2B5EF4-FFF2-40B4-BE49-F238E27FC236}">
                <a16:creationId xmlns:a16="http://schemas.microsoft.com/office/drawing/2014/main" id="{8DF6AE3E-E137-4453-95FB-AE4E2FF47EF7}"/>
              </a:ext>
            </a:extLst>
          </p:cNvPr>
          <p:cNvSpPr>
            <a:spLocks xmlns:a="http://schemas.openxmlformats.org/drawingml/2006/main" noGrp="1"/>
          </p:cNvSpPr>
          <p:nvPr/>
        </p:nvSpPr>
        <p:spPr>
          <a:xfrm xmlns:a="http://schemas.openxmlformats.org/drawingml/2006/main">
            <a:off x="628650" y="5657850"/>
            <a:ext cx="10934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4F3EE"/>
                </a:solidFill>
                <a:latin typeface="Helvetica Neue"/>
                <a:ea typeface="Helvetica Neue"/>
                <a:cs typeface="Helvetica Neue"/>
              </a:defRPr>
            </a:pPr>
            <a:r>
              <a:rPr sz="2175" b="0">
                <a:solidFill>
                  <a:srgbClr val="F4F3EE"/>
                </a:solidFill>
                <a:latin typeface="Helvetica Neue"/>
                <a:ea typeface="Helvetica Neue"/>
                <a:cs typeface="Helvetica Neue"/>
              </a:rPr>
              <a:t>Ties follow the visible choice order. A poll with no votes has no winner.</a:t>
            </a:r>
          </a:p>
        </p:txBody>
      </p:sp>
    </p:spTree>
    <p:extLst>
      <p:ext uri="{BB962C8B-B14F-4D97-AF65-F5344CB8AC3E}">
        <p14:creationId xmlns:p14="http://schemas.microsoft.com/office/powerpoint/2010/main" val="703547188"/>
      </p:ext>
    </p:extLst>
  </p:cSld>
</p:sld>
</file>

<file path=ppt/slides/slide5.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37" name="The audience-to-canvas architecture">
            <a:extLst xmlns:a="http://schemas.openxmlformats.org/drawingml/2006/main">
              <a:ext uri="{FF2B5EF4-FFF2-40B4-BE49-F238E27FC236}">
                <a16:creationId xmlns:a16="http://schemas.microsoft.com/office/drawing/2014/main" id="{2CE8D491-9654-4C6C-B8E8-3EE865204AFF}"/>
              </a:ext>
            </a:extLst>
          </p:cNvPr>
          <p:cNvSpPr>
            <a:spLocks xmlns:a="http://schemas.openxmlformats.org/drawingml/2006/main" noGrp="1"/>
          </p:cNvSpPr>
          <p:nvPr/>
        </p:nvSpPr>
        <p:spPr>
          <a:xfrm xmlns:a="http://schemas.openxmlformats.org/drawingml/2006/main">
            <a:off x="628650" y="48577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3EE"/>
                </a:solidFill>
                <a:latin typeface="Helvetica Neue"/>
                <a:ea typeface="Helvetica Neue"/>
                <a:cs typeface="Helvetica Neue"/>
              </a:defRPr>
            </a:pPr>
            <a:r>
              <a:rPr sz="3450" b="1">
                <a:solidFill>
                  <a:srgbClr val="F4F3EE"/>
                </a:solidFill>
                <a:latin typeface="Helvetica Neue"/>
                <a:ea typeface="Helvetica Neue"/>
                <a:cs typeface="Helvetica Neue"/>
              </a:rPr>
              <a:t>The audience-to-canvas architecture</a:t>
            </a:r>
          </a:p>
        </p:txBody>
      </p:sp>
      <p:sp>
        <p:nvSpPr>
          <p:cNvPr id="2" name="05">
            <a:extLst xmlns:a="http://schemas.openxmlformats.org/drawingml/2006/main">
              <a:ext uri="{FF2B5EF4-FFF2-40B4-BE49-F238E27FC236}">
                <a16:creationId xmlns:a16="http://schemas.microsoft.com/office/drawing/2014/main" id="{ED9425F6-8972-4E91-8122-5EA9052A797D}"/>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05</a:t>
            </a:r>
          </a:p>
        </p:txBody>
      </p:sp>
      <p:sp>
        <p:nvSpPr>
          <p:cNvPr id="3" name="Audience">
            <a:extLst xmlns:a="http://schemas.openxmlformats.org/drawingml/2006/main">
              <a:ext uri="{FF2B5EF4-FFF2-40B4-BE49-F238E27FC236}">
                <a16:creationId xmlns:a16="http://schemas.microsoft.com/office/drawing/2014/main" id="{C98ECD54-FEF1-4706-A9D1-7CFC567C61A7}"/>
              </a:ext>
            </a:extLst>
          </p:cNvPr>
          <p:cNvSpPr>
            <a:spLocks xmlns:a="http://schemas.openxmlformats.org/drawingml/2006/main" noGrp="1"/>
          </p:cNvSpPr>
          <p:nvPr/>
        </p:nvSpPr>
        <p:spPr>
          <a:xfrm xmlns:a="http://schemas.openxmlformats.org/drawingml/2006/main">
            <a:off x="628650" y="1752600"/>
            <a:ext cx="194310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4" name="Audience">
            <a:extLst xmlns:a="http://schemas.openxmlformats.org/drawingml/2006/main">
              <a:ext uri="{FF2B5EF4-FFF2-40B4-BE49-F238E27FC236}">
                <a16:creationId xmlns:a16="http://schemas.microsoft.com/office/drawing/2014/main" id="{A20537D3-5391-44AE-82B4-E6A3CA30A877}"/>
              </a:ext>
            </a:extLst>
          </p:cNvPr>
          <p:cNvSpPr>
            <a:spLocks xmlns:a="http://schemas.openxmlformats.org/drawingml/2006/main" noGrp="1"/>
          </p:cNvSpPr>
          <p:nvPr/>
        </p:nvSpPr>
        <p:spPr>
          <a:xfrm xmlns:a="http://schemas.openxmlformats.org/drawingml/2006/main">
            <a:off x="781050" y="1924050"/>
            <a:ext cx="1638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Audience</a:t>
            </a:r>
          </a:p>
        </p:txBody>
      </p:sp>
      <p:sp>
        <p:nvSpPr>
          <p:cNvPr id="5" name="Phone vote">
            <a:extLst xmlns:a="http://schemas.openxmlformats.org/drawingml/2006/main">
              <a:ext uri="{FF2B5EF4-FFF2-40B4-BE49-F238E27FC236}">
                <a16:creationId xmlns:a16="http://schemas.microsoft.com/office/drawing/2014/main" id="{16BE2AE6-127C-4296-9C7B-C17484410883}"/>
              </a:ext>
            </a:extLst>
          </p:cNvPr>
          <p:cNvSpPr>
            <a:spLocks xmlns:a="http://schemas.openxmlformats.org/drawingml/2006/main" noGrp="1"/>
          </p:cNvSpPr>
          <p:nvPr/>
        </p:nvSpPr>
        <p:spPr>
          <a:xfrm xmlns:a="http://schemas.openxmlformats.org/drawingml/2006/main">
            <a:off x="781050" y="241935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Phone vote</a:t>
            </a:r>
          </a:p>
        </p:txBody>
      </p:sp>
      <p:sp>
        <p:nvSpPr>
          <p:cNvPr id="6" name="Atomic tally">
            <a:extLst xmlns:a="http://schemas.openxmlformats.org/drawingml/2006/main">
              <a:ext uri="{FF2B5EF4-FFF2-40B4-BE49-F238E27FC236}">
                <a16:creationId xmlns:a16="http://schemas.microsoft.com/office/drawing/2014/main" id="{8F8C0A19-D366-46C0-A41C-457EBC3A72C2}"/>
              </a:ext>
            </a:extLst>
          </p:cNvPr>
          <p:cNvSpPr>
            <a:spLocks xmlns:a="http://schemas.openxmlformats.org/drawingml/2006/main" noGrp="1"/>
          </p:cNvSpPr>
          <p:nvPr/>
        </p:nvSpPr>
        <p:spPr>
          <a:xfrm xmlns:a="http://schemas.openxmlformats.org/drawingml/2006/main">
            <a:off x="2952750" y="1752600"/>
            <a:ext cx="194310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7" name="Atomic tally">
            <a:extLst xmlns:a="http://schemas.openxmlformats.org/drawingml/2006/main">
              <a:ext uri="{FF2B5EF4-FFF2-40B4-BE49-F238E27FC236}">
                <a16:creationId xmlns:a16="http://schemas.microsoft.com/office/drawing/2014/main" id="{052DF8A4-6F98-456C-89FA-263F33C2B3FC}"/>
              </a:ext>
            </a:extLst>
          </p:cNvPr>
          <p:cNvSpPr>
            <a:spLocks xmlns:a="http://schemas.openxmlformats.org/drawingml/2006/main" noGrp="1"/>
          </p:cNvSpPr>
          <p:nvPr/>
        </p:nvSpPr>
        <p:spPr>
          <a:xfrm xmlns:a="http://schemas.openxmlformats.org/drawingml/2006/main">
            <a:off x="3105150" y="1924050"/>
            <a:ext cx="1638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Atomic tally</a:t>
            </a:r>
          </a:p>
        </p:txBody>
      </p:sp>
      <p:sp>
        <p:nvSpPr>
          <p:cNvPr id="8" name="D1 closes poll">
            <a:extLst xmlns:a="http://schemas.openxmlformats.org/drawingml/2006/main">
              <a:ext uri="{FF2B5EF4-FFF2-40B4-BE49-F238E27FC236}">
                <a16:creationId xmlns:a16="http://schemas.microsoft.com/office/drawing/2014/main" id="{06FBF72A-A375-4F31-A7B7-3CAE6074EFCB}"/>
              </a:ext>
            </a:extLst>
          </p:cNvPr>
          <p:cNvSpPr>
            <a:spLocks xmlns:a="http://schemas.openxmlformats.org/drawingml/2006/main" noGrp="1"/>
          </p:cNvSpPr>
          <p:nvPr/>
        </p:nvSpPr>
        <p:spPr>
          <a:xfrm xmlns:a="http://schemas.openxmlformats.org/drawingml/2006/main">
            <a:off x="3105150" y="241935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D1 closes poll</a:t>
            </a:r>
          </a:p>
        </p:txBody>
      </p:sp>
      <p:sp>
        <p:nvSpPr>
          <p:cNvPr id="9" name="Nebius">
            <a:extLst xmlns:a="http://schemas.openxmlformats.org/drawingml/2006/main">
              <a:ext uri="{FF2B5EF4-FFF2-40B4-BE49-F238E27FC236}">
                <a16:creationId xmlns:a16="http://schemas.microsoft.com/office/drawing/2014/main" id="{C584E19D-C052-484F-AD59-C42DBC801B74}"/>
              </a:ext>
            </a:extLst>
          </p:cNvPr>
          <p:cNvSpPr>
            <a:spLocks xmlns:a="http://schemas.openxmlformats.org/drawingml/2006/main" noGrp="1"/>
          </p:cNvSpPr>
          <p:nvPr/>
        </p:nvSpPr>
        <p:spPr>
          <a:xfrm xmlns:a="http://schemas.openxmlformats.org/drawingml/2006/main">
            <a:off x="5276850" y="1752600"/>
            <a:ext cx="211455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EAC18C"/>
            </a:solidFill>
            <a:prstDash val="dash"/>
          </a:ln>
        </p:spPr>
      </p:sp>
      <p:sp>
        <p:nvSpPr>
          <p:cNvPr id="10" name="Nebius">
            <a:extLst xmlns:a="http://schemas.openxmlformats.org/drawingml/2006/main">
              <a:ext uri="{FF2B5EF4-FFF2-40B4-BE49-F238E27FC236}">
                <a16:creationId xmlns:a16="http://schemas.microsoft.com/office/drawing/2014/main" id="{39F51E0D-5DCE-4497-92AE-87922974EFA2}"/>
              </a:ext>
            </a:extLst>
          </p:cNvPr>
          <p:cNvSpPr>
            <a:spLocks xmlns:a="http://schemas.openxmlformats.org/drawingml/2006/main" noGrp="1"/>
          </p:cNvSpPr>
          <p:nvPr/>
        </p:nvSpPr>
        <p:spPr>
          <a:xfrm xmlns:a="http://schemas.openxmlformats.org/drawingml/2006/main">
            <a:off x="5429250" y="1924050"/>
            <a:ext cx="180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EAC18C"/>
                </a:solidFill>
                <a:latin typeface="Helvetica Neue"/>
                <a:ea typeface="Helvetica Neue"/>
                <a:cs typeface="Helvetica Neue"/>
              </a:defRPr>
            </a:pPr>
            <a:r>
              <a:rPr sz="1800" b="1">
                <a:solidFill>
                  <a:srgbClr val="EAC18C"/>
                </a:solidFill>
                <a:latin typeface="Helvetica Neue"/>
                <a:ea typeface="Helvetica Neue"/>
                <a:cs typeface="Helvetica Neue"/>
              </a:rPr>
              <a:t>Nebius</a:t>
            </a:r>
          </a:p>
        </p:txBody>
      </p:sp>
      <p:sp>
        <p:nvSpPr>
          <p:cNvPr id="11" name="Optional director">
            <a:extLst xmlns:a="http://schemas.openxmlformats.org/drawingml/2006/main">
              <a:ext uri="{FF2B5EF4-FFF2-40B4-BE49-F238E27FC236}">
                <a16:creationId xmlns:a16="http://schemas.microsoft.com/office/drawing/2014/main" id="{7DD1F764-E827-47EE-BACE-703A1C18D9B0}"/>
              </a:ext>
            </a:extLst>
          </p:cNvPr>
          <p:cNvSpPr>
            <a:spLocks xmlns:a="http://schemas.openxmlformats.org/drawingml/2006/main" noGrp="1"/>
          </p:cNvSpPr>
          <p:nvPr/>
        </p:nvSpPr>
        <p:spPr>
          <a:xfrm xmlns:a="http://schemas.openxmlformats.org/drawingml/2006/main">
            <a:off x="5429250" y="2419350"/>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Optional director</a:t>
            </a:r>
          </a:p>
        </p:txBody>
      </p:sp>
      <p:sp>
        <p:nvSpPr>
          <p:cNvPr id="12" name="Reactor">
            <a:extLst xmlns:a="http://schemas.openxmlformats.org/drawingml/2006/main">
              <a:ext uri="{FF2B5EF4-FFF2-40B4-BE49-F238E27FC236}">
                <a16:creationId xmlns:a16="http://schemas.microsoft.com/office/drawing/2014/main" id="{D4AAFBFE-11AA-4E85-96F7-0633B980EC9E}"/>
              </a:ext>
            </a:extLst>
          </p:cNvPr>
          <p:cNvSpPr>
            <a:spLocks xmlns:a="http://schemas.openxmlformats.org/drawingml/2006/main" noGrp="1"/>
          </p:cNvSpPr>
          <p:nvPr/>
        </p:nvSpPr>
        <p:spPr>
          <a:xfrm xmlns:a="http://schemas.openxmlformats.org/drawingml/2006/main">
            <a:off x="7772400" y="1752600"/>
            <a:ext cx="190500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13" name="Reactor">
            <a:extLst xmlns:a="http://schemas.openxmlformats.org/drawingml/2006/main">
              <a:ext uri="{FF2B5EF4-FFF2-40B4-BE49-F238E27FC236}">
                <a16:creationId xmlns:a16="http://schemas.microsoft.com/office/drawing/2014/main" id="{BFC1ACA2-91CB-465B-8AC4-110ECBCBFE0F}"/>
              </a:ext>
            </a:extLst>
          </p:cNvPr>
          <p:cNvSpPr>
            <a:spLocks xmlns:a="http://schemas.openxmlformats.org/drawingml/2006/main" noGrp="1"/>
          </p:cNvSpPr>
          <p:nvPr/>
        </p:nvSpPr>
        <p:spPr>
          <a:xfrm xmlns:a="http://schemas.openxmlformats.org/drawingml/2006/main">
            <a:off x="7924800" y="1924050"/>
            <a:ext cx="1600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Reactor</a:t>
            </a:r>
          </a:p>
        </p:txBody>
      </p:sp>
      <p:sp>
        <p:nvSpPr>
          <p:cNvPr id="14" name="Visko Orbis">
            <a:extLst xmlns:a="http://schemas.openxmlformats.org/drawingml/2006/main">
              <a:ext uri="{FF2B5EF4-FFF2-40B4-BE49-F238E27FC236}">
                <a16:creationId xmlns:a16="http://schemas.microsoft.com/office/drawing/2014/main" id="{20F1C099-F8DF-4B1B-900C-13ED7183EFB5}"/>
              </a:ext>
            </a:extLst>
          </p:cNvPr>
          <p:cNvSpPr>
            <a:spLocks xmlns:a="http://schemas.openxmlformats.org/drawingml/2006/main" noGrp="1"/>
          </p:cNvSpPr>
          <p:nvPr/>
        </p:nvSpPr>
        <p:spPr>
          <a:xfrm xmlns:a="http://schemas.openxmlformats.org/drawingml/2006/main">
            <a:off x="7924800" y="2419350"/>
            <a:ext cx="1600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Visko Orbis</a:t>
            </a:r>
          </a:p>
        </p:txBody>
      </p:sp>
      <p:sp>
        <p:nvSpPr>
          <p:cNvPr id="15" name="Canvas">
            <a:extLst xmlns:a="http://schemas.openxmlformats.org/drawingml/2006/main">
              <a:ext uri="{FF2B5EF4-FFF2-40B4-BE49-F238E27FC236}">
                <a16:creationId xmlns:a16="http://schemas.microsoft.com/office/drawing/2014/main" id="{741E2451-5EDE-496A-B22F-0F602DE15988}"/>
              </a:ext>
            </a:extLst>
          </p:cNvPr>
          <p:cNvSpPr>
            <a:spLocks xmlns:a="http://schemas.openxmlformats.org/drawingml/2006/main" noGrp="1"/>
          </p:cNvSpPr>
          <p:nvPr/>
        </p:nvSpPr>
        <p:spPr>
          <a:xfrm xmlns:a="http://schemas.openxmlformats.org/drawingml/2006/main">
            <a:off x="10058400" y="1752600"/>
            <a:ext cx="150495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16" name="Canvas">
            <a:extLst xmlns:a="http://schemas.openxmlformats.org/drawingml/2006/main">
              <a:ext uri="{FF2B5EF4-FFF2-40B4-BE49-F238E27FC236}">
                <a16:creationId xmlns:a16="http://schemas.microsoft.com/office/drawing/2014/main" id="{16484B8D-89E7-4F90-979E-1430B6102CF9}"/>
              </a:ext>
            </a:extLst>
          </p:cNvPr>
          <p:cNvSpPr>
            <a:spLocks xmlns:a="http://schemas.openxmlformats.org/drawingml/2006/main" noGrp="1"/>
          </p:cNvSpPr>
          <p:nvPr/>
        </p:nvSpPr>
        <p:spPr>
          <a:xfrm xmlns:a="http://schemas.openxmlformats.org/drawingml/2006/main">
            <a:off x="10210800" y="1924050"/>
            <a:ext cx="120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Canvas</a:t>
            </a:r>
          </a:p>
        </p:txBody>
      </p:sp>
      <p:sp>
        <p:nvSpPr>
          <p:cNvPr id="17" name="Shared film">
            <a:extLst xmlns:a="http://schemas.openxmlformats.org/drawingml/2006/main">
              <a:ext uri="{FF2B5EF4-FFF2-40B4-BE49-F238E27FC236}">
                <a16:creationId xmlns:a16="http://schemas.microsoft.com/office/drawing/2014/main" id="{76AAF68D-3B1B-45E7-83A2-27FBED4AB005}"/>
              </a:ext>
            </a:extLst>
          </p:cNvPr>
          <p:cNvSpPr>
            <a:spLocks xmlns:a="http://schemas.openxmlformats.org/drawingml/2006/main" noGrp="1"/>
          </p:cNvSpPr>
          <p:nvPr/>
        </p:nvSpPr>
        <p:spPr>
          <a:xfrm xmlns:a="http://schemas.openxmlformats.org/drawingml/2006/main">
            <a:off x="10210800" y="2419350"/>
            <a:ext cx="120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Shared film</a:t>
            </a:r>
          </a:p>
        </p:txBody>
      </p:sp>
      <p:cxnSp>
        <p:nvCxnSpPr>
          <p:cNvPr id="54" name=""/>
          <p:cNvCxnSpPr>
            <a:stCxn xmlns:a="http://schemas.openxmlformats.org/drawingml/2006/main" id="3" idx="3"/>
            <a:endCxn xmlns:a="http://schemas.openxmlformats.org/drawingml/2006/main" id="6" idx="1"/>
          </p:cNvCxnSpPr>
          <p:nvPr/>
        </p:nvCxnSpPr>
        <p:spPr>
          <a:xfrm xmlns:a="http://schemas.openxmlformats.org/drawingml/2006/main">
            <a:off x="2571750" y="2362200"/>
            <a:ext cx="381000"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cxnSp>
        <p:nvCxnSpPr>
          <p:cNvPr id="55" name=""/>
          <p:cNvCxnSpPr>
            <a:stCxn xmlns:a="http://schemas.openxmlformats.org/drawingml/2006/main" id="6" idx="3"/>
            <a:endCxn xmlns:a="http://schemas.openxmlformats.org/drawingml/2006/main" id="9" idx="1"/>
          </p:cNvCxnSpPr>
          <p:nvPr/>
        </p:nvCxnSpPr>
        <p:spPr>
          <a:xfrm xmlns:a="http://schemas.openxmlformats.org/drawingml/2006/main">
            <a:off x="4895850" y="2362200"/>
            <a:ext cx="381000"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cxnSp>
        <p:nvCxnSpPr>
          <p:cNvPr id="56" name=""/>
          <p:cNvCxnSpPr>
            <a:stCxn xmlns:a="http://schemas.openxmlformats.org/drawingml/2006/main" id="9" idx="3"/>
            <a:endCxn xmlns:a="http://schemas.openxmlformats.org/drawingml/2006/main" id="12" idx="1"/>
          </p:cNvCxnSpPr>
          <p:nvPr/>
        </p:nvCxnSpPr>
        <p:spPr>
          <a:xfrm xmlns:a="http://schemas.openxmlformats.org/drawingml/2006/main">
            <a:off x="7391400" y="2362200"/>
            <a:ext cx="381000"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cxnSp>
        <p:nvCxnSpPr>
          <p:cNvPr id="57" name=""/>
          <p:cNvCxnSpPr>
            <a:stCxn xmlns:a="http://schemas.openxmlformats.org/drawingml/2006/main" id="12" idx="3"/>
            <a:endCxn xmlns:a="http://schemas.openxmlformats.org/drawingml/2006/main" id="15" idx="1"/>
          </p:cNvCxnSpPr>
          <p:nvPr/>
        </p:nvCxnSpPr>
        <p:spPr>
          <a:xfrm xmlns:a="http://schemas.openxmlformats.org/drawingml/2006/main">
            <a:off x="9677400" y="2362200"/>
            <a:ext cx="381000"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sp>
        <p:nvSpPr>
          <p:cNvPr id="22" name="SSE updates">
            <a:extLst xmlns:a="http://schemas.openxmlformats.org/drawingml/2006/main">
              <a:ext uri="{FF2B5EF4-FFF2-40B4-BE49-F238E27FC236}">
                <a16:creationId xmlns:a16="http://schemas.microsoft.com/office/drawing/2014/main" id="{1A60969B-2068-40EA-B984-DB1FEA429B7F}"/>
              </a:ext>
            </a:extLst>
          </p:cNvPr>
          <p:cNvSpPr>
            <a:spLocks xmlns:a="http://schemas.openxmlformats.org/drawingml/2006/main" noGrp="1"/>
          </p:cNvSpPr>
          <p:nvPr/>
        </p:nvSpPr>
        <p:spPr>
          <a:xfrm xmlns:a="http://schemas.openxmlformats.org/drawingml/2006/main">
            <a:off x="628650" y="3876675"/>
            <a:ext cx="194310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23" name="SSE updates">
            <a:extLst xmlns:a="http://schemas.openxmlformats.org/drawingml/2006/main">
              <a:ext uri="{FF2B5EF4-FFF2-40B4-BE49-F238E27FC236}">
                <a16:creationId xmlns:a16="http://schemas.microsoft.com/office/drawing/2014/main" id="{641A74A9-039B-44B8-AB9D-724B9AEBA1C3}"/>
              </a:ext>
            </a:extLst>
          </p:cNvPr>
          <p:cNvSpPr>
            <a:spLocks xmlns:a="http://schemas.openxmlformats.org/drawingml/2006/main" noGrp="1"/>
          </p:cNvSpPr>
          <p:nvPr/>
        </p:nvSpPr>
        <p:spPr>
          <a:xfrm xmlns:a="http://schemas.openxmlformats.org/drawingml/2006/main">
            <a:off x="781050" y="4048125"/>
            <a:ext cx="1638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SSE updates</a:t>
            </a:r>
          </a:p>
        </p:txBody>
      </p:sp>
      <p:sp>
        <p:nvSpPr>
          <p:cNvPr id="24" name="Saved story and tally">
            <a:extLst xmlns:a="http://schemas.openxmlformats.org/drawingml/2006/main">
              <a:ext uri="{FF2B5EF4-FFF2-40B4-BE49-F238E27FC236}">
                <a16:creationId xmlns:a16="http://schemas.microsoft.com/office/drawing/2014/main" id="{B951BA8C-F66E-4BDE-AF52-D2030B6D2EDB}"/>
              </a:ext>
            </a:extLst>
          </p:cNvPr>
          <p:cNvSpPr>
            <a:spLocks xmlns:a="http://schemas.openxmlformats.org/drawingml/2006/main" noGrp="1"/>
          </p:cNvSpPr>
          <p:nvPr/>
        </p:nvSpPr>
        <p:spPr>
          <a:xfrm xmlns:a="http://schemas.openxmlformats.org/drawingml/2006/main">
            <a:off x="781050" y="4543425"/>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Saved story and tally</a:t>
            </a:r>
          </a:p>
        </p:txBody>
      </p:sp>
      <p:sp>
        <p:nvSpPr>
          <p:cNvPr id="25" name="Story storage">
            <a:extLst xmlns:a="http://schemas.openxmlformats.org/drawingml/2006/main">
              <a:ext uri="{FF2B5EF4-FFF2-40B4-BE49-F238E27FC236}">
                <a16:creationId xmlns:a16="http://schemas.microsoft.com/office/drawing/2014/main" id="{B27E117B-840F-4C3A-B680-B03C3331E553}"/>
              </a:ext>
            </a:extLst>
          </p:cNvPr>
          <p:cNvSpPr>
            <a:spLocks xmlns:a="http://schemas.openxmlformats.org/drawingml/2006/main" noGrp="1"/>
          </p:cNvSpPr>
          <p:nvPr/>
        </p:nvSpPr>
        <p:spPr>
          <a:xfrm xmlns:a="http://schemas.openxmlformats.org/drawingml/2006/main">
            <a:off x="2952750" y="3876675"/>
            <a:ext cx="194310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26" name="Story storage">
            <a:extLst xmlns:a="http://schemas.openxmlformats.org/drawingml/2006/main">
              <a:ext uri="{FF2B5EF4-FFF2-40B4-BE49-F238E27FC236}">
                <a16:creationId xmlns:a16="http://schemas.microsoft.com/office/drawing/2014/main" id="{A84588CB-0F43-458E-94D6-DC87C39A68F3}"/>
              </a:ext>
            </a:extLst>
          </p:cNvPr>
          <p:cNvSpPr>
            <a:spLocks xmlns:a="http://schemas.openxmlformats.org/drawingml/2006/main" noGrp="1"/>
          </p:cNvSpPr>
          <p:nvPr/>
        </p:nvSpPr>
        <p:spPr>
          <a:xfrm xmlns:a="http://schemas.openxmlformats.org/drawingml/2006/main">
            <a:off x="3105150" y="4048125"/>
            <a:ext cx="1638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Story storage</a:t>
            </a:r>
          </a:p>
        </p:txBody>
      </p:sp>
      <p:sp>
        <p:nvSpPr>
          <p:cNvPr id="27" name="D1 state + version">
            <a:extLst xmlns:a="http://schemas.openxmlformats.org/drawingml/2006/main">
              <a:ext uri="{FF2B5EF4-FFF2-40B4-BE49-F238E27FC236}">
                <a16:creationId xmlns:a16="http://schemas.microsoft.com/office/drawing/2014/main" id="{1BF5E54C-EEAA-4152-B16B-00F03EB5A390}"/>
              </a:ext>
            </a:extLst>
          </p:cNvPr>
          <p:cNvSpPr>
            <a:spLocks xmlns:a="http://schemas.openxmlformats.org/drawingml/2006/main" noGrp="1"/>
          </p:cNvSpPr>
          <p:nvPr/>
        </p:nvSpPr>
        <p:spPr>
          <a:xfrm xmlns:a="http://schemas.openxmlformats.org/drawingml/2006/main">
            <a:off x="3105150" y="4543425"/>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D1 state + version</a:t>
            </a:r>
          </a:p>
        </p:txBody>
      </p:sp>
      <p:sp>
        <p:nvSpPr>
          <p:cNvPr id="28" name="Story context">
            <a:extLst xmlns:a="http://schemas.openxmlformats.org/drawingml/2006/main">
              <a:ext uri="{FF2B5EF4-FFF2-40B4-BE49-F238E27FC236}">
                <a16:creationId xmlns:a16="http://schemas.microsoft.com/office/drawing/2014/main" id="{3BB543ED-A6EA-4FFB-A0A8-97857D96E439}"/>
              </a:ext>
            </a:extLst>
          </p:cNvPr>
          <p:cNvSpPr>
            <a:spLocks xmlns:a="http://schemas.openxmlformats.org/drawingml/2006/main" noGrp="1"/>
          </p:cNvSpPr>
          <p:nvPr/>
        </p:nvSpPr>
        <p:spPr>
          <a:xfrm xmlns:a="http://schemas.openxmlformats.org/drawingml/2006/main">
            <a:off x="5276850" y="3876675"/>
            <a:ext cx="2114550" cy="1219200"/>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29" name="Story context">
            <a:extLst xmlns:a="http://schemas.openxmlformats.org/drawingml/2006/main">
              <a:ext uri="{FF2B5EF4-FFF2-40B4-BE49-F238E27FC236}">
                <a16:creationId xmlns:a16="http://schemas.microsoft.com/office/drawing/2014/main" id="{8DFFCAE3-DD04-4D2E-94DC-CC7E1D2E3547}"/>
              </a:ext>
            </a:extLst>
          </p:cNvPr>
          <p:cNvSpPr>
            <a:spLocks xmlns:a="http://schemas.openxmlformats.org/drawingml/2006/main" noGrp="1"/>
          </p:cNvSpPr>
          <p:nvPr/>
        </p:nvSpPr>
        <p:spPr>
          <a:xfrm xmlns:a="http://schemas.openxmlformats.org/drawingml/2006/main">
            <a:off x="5429250" y="4048125"/>
            <a:ext cx="180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Story context</a:t>
            </a:r>
          </a:p>
        </p:txBody>
      </p:sp>
      <p:sp>
        <p:nvSpPr>
          <p:cNvPr id="30" name="Memory and branch ancestry">
            <a:extLst xmlns:a="http://schemas.openxmlformats.org/drawingml/2006/main">
              <a:ext uri="{FF2B5EF4-FFF2-40B4-BE49-F238E27FC236}">
                <a16:creationId xmlns:a16="http://schemas.microsoft.com/office/drawing/2014/main" id="{86B66E18-27E0-4C21-B3E3-CB7B58EFA1D1}"/>
              </a:ext>
            </a:extLst>
          </p:cNvPr>
          <p:cNvSpPr>
            <a:spLocks xmlns:a="http://schemas.openxmlformats.org/drawingml/2006/main" noGrp="1"/>
          </p:cNvSpPr>
          <p:nvPr/>
        </p:nvSpPr>
        <p:spPr>
          <a:xfrm xmlns:a="http://schemas.openxmlformats.org/drawingml/2006/main">
            <a:off x="5429250" y="4543425"/>
            <a:ext cx="180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Memory and branch ancestry</a:t>
            </a:r>
          </a:p>
        </p:txBody>
      </p:sp>
      <p:cxnSp>
        <p:nvCxnSpPr>
          <p:cNvPr id="67" name=""/>
          <p:cNvCxnSpPr>
            <a:stCxn xmlns:a="http://schemas.openxmlformats.org/drawingml/2006/main" id="6" idx="2"/>
            <a:endCxn xmlns:a="http://schemas.openxmlformats.org/drawingml/2006/main" id="25" idx="0"/>
          </p:cNvCxnSpPr>
          <p:nvPr/>
        </p:nvCxnSpPr>
        <p:spPr>
          <a:xfrm xmlns:a="http://schemas.openxmlformats.org/drawingml/2006/main">
            <a:off x="3924300" y="2971800"/>
            <a:ext cx="0" cy="904875"/>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cxnSp>
        <p:nvCxnSpPr>
          <p:cNvPr id="68" name=""/>
          <p:cNvCxnSpPr>
            <a:stCxn xmlns:a="http://schemas.openxmlformats.org/drawingml/2006/main" id="25" idx="1"/>
            <a:endCxn xmlns:a="http://schemas.openxmlformats.org/drawingml/2006/main" id="22" idx="3"/>
          </p:cNvCxnSpPr>
          <p:nvPr/>
        </p:nvCxnSpPr>
        <p:spPr>
          <a:xfrm xmlns:a="http://schemas.openxmlformats.org/drawingml/2006/main" flipH="1">
            <a:off x="2571750" y="4486275"/>
            <a:ext cx="381000"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cxnSp>
        <p:nvCxnSpPr>
          <p:cNvPr id="69" name=""/>
          <p:cNvCxnSpPr>
            <a:stCxn xmlns:a="http://schemas.openxmlformats.org/drawingml/2006/main" id="28" idx="0"/>
            <a:endCxn xmlns:a="http://schemas.openxmlformats.org/drawingml/2006/main" id="9" idx="2"/>
          </p:cNvCxnSpPr>
          <p:nvPr/>
        </p:nvCxnSpPr>
        <p:spPr>
          <a:xfrm xmlns:a="http://schemas.openxmlformats.org/drawingml/2006/main" flipV="1">
            <a:off x="6334125" y="2971800"/>
            <a:ext cx="0" cy="904875"/>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sp>
        <p:nvSpPr>
          <p:cNvPr id="34" name="Host applies the winner&#10;and sends the prompt">
            <a:extLst xmlns:a="http://schemas.openxmlformats.org/drawingml/2006/main">
              <a:ext uri="{FF2B5EF4-FFF2-40B4-BE49-F238E27FC236}">
                <a16:creationId xmlns:a16="http://schemas.microsoft.com/office/drawing/2014/main" id="{580D4684-E9C8-422D-BF79-5C28C9132602}"/>
              </a:ext>
            </a:extLst>
          </p:cNvPr>
          <p:cNvSpPr>
            <a:spLocks xmlns:a="http://schemas.openxmlformats.org/drawingml/2006/main" noGrp="1"/>
          </p:cNvSpPr>
          <p:nvPr/>
        </p:nvSpPr>
        <p:spPr>
          <a:xfrm xmlns:a="http://schemas.openxmlformats.org/drawingml/2006/main">
            <a:off x="7772400" y="3876675"/>
            <a:ext cx="37909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C18C"/>
                </a:solidFill>
                <a:latin typeface="Helvetica Neue"/>
                <a:ea typeface="Helvetica Neue"/>
                <a:cs typeface="Helvetica Neue"/>
              </a:defRPr>
            </a:pPr>
            <a:r>
              <a:rPr sz="2175" b="0">
                <a:solidFill>
                  <a:srgbClr val="EAC18C"/>
                </a:solidFill>
                <a:latin typeface="Helvetica Neue"/>
                <a:ea typeface="Helvetica Neue"/>
                <a:cs typeface="Helvetica Neue"/>
              </a:rPr>
              <a:t>Host applies the winner</a:t>
            </a:r>
          </a:p>
          <a:p xmlns:a="http://schemas.openxmlformats.org/drawingml/2006/main">
            <a:pPr algn="l">
              <a:defRPr sz="2175" b="0">
                <a:solidFill>
                  <a:srgbClr val="EAC18C"/>
                </a:solidFill>
                <a:latin typeface="Helvetica Neue"/>
                <a:ea typeface="Helvetica Neue"/>
                <a:cs typeface="Helvetica Neue"/>
              </a:defRPr>
            </a:pPr>
            <a:r>
              <a:rPr sz="2175" b="0">
                <a:solidFill>
                  <a:srgbClr val="EAC18C"/>
                </a:solidFill>
                <a:latin typeface="Helvetica Neue"/>
                <a:ea typeface="Helvetica Neue"/>
                <a:cs typeface="Helvetica Neue"/>
              </a:rPr>
              <a:t>and sends the prompt</a:t>
            </a:r>
          </a:p>
        </p:txBody>
      </p:sp>
      <p:sp>
        <p:nvSpPr>
          <p:cNvPr id="35" name="Rehearsal can create a beat without Nebius.">
            <a:extLst xmlns:a="http://schemas.openxmlformats.org/drawingml/2006/main">
              <a:ext uri="{FF2B5EF4-FFF2-40B4-BE49-F238E27FC236}">
                <a16:creationId xmlns:a16="http://schemas.microsoft.com/office/drawing/2014/main" id="{96C23866-FDC5-4EF1-AE90-2773F891C5C1}"/>
              </a:ext>
            </a:extLst>
          </p:cNvPr>
          <p:cNvSpPr>
            <a:spLocks xmlns:a="http://schemas.openxmlformats.org/drawingml/2006/main" noGrp="1"/>
          </p:cNvSpPr>
          <p:nvPr/>
        </p:nvSpPr>
        <p:spPr>
          <a:xfrm xmlns:a="http://schemas.openxmlformats.org/drawingml/2006/main">
            <a:off x="628650" y="55626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4F3EE"/>
                </a:solidFill>
                <a:latin typeface="Helvetica Neue"/>
                <a:ea typeface="Helvetica Neue"/>
                <a:cs typeface="Helvetica Neue"/>
              </a:defRPr>
            </a:pPr>
            <a:r>
              <a:rPr sz="2175" b="0">
                <a:solidFill>
                  <a:srgbClr val="F4F3EE"/>
                </a:solidFill>
                <a:latin typeface="Helvetica Neue"/>
                <a:ea typeface="Helvetica Neue"/>
                <a:cs typeface="Helvetica Neue"/>
              </a:rPr>
              <a:t>Rehearsal can create a beat without Nebius.</a:t>
            </a:r>
          </a:p>
        </p:txBody>
      </p:sp>
      <p:sp>
        <p:nvSpPr>
          <p:cNvPr id="36" name="Video integration informed by Visko-Platform/">
            <a:extLst xmlns:a="http://schemas.openxmlformats.org/drawingml/2006/main">
              <a:ext uri="{FF2B5EF4-FFF2-40B4-BE49-F238E27FC236}">
                <a16:creationId xmlns:a16="http://schemas.microsoft.com/office/drawing/2014/main" id="{A1F34BC2-60B2-4E09-89D3-FC8664C580DF}"/>
              </a:ext>
            </a:extLst>
          </p:cNvPr>
          <p:cNvSpPr>
            <a:spLocks xmlns:a="http://schemas.openxmlformats.org/drawingml/2006/main" noGrp="1"/>
          </p:cNvSpPr>
          <p:nvPr/>
        </p:nvSpPr>
        <p:spPr>
          <a:xfrm xmlns:a="http://schemas.openxmlformats.org/drawingml/2006/main">
            <a:off x="62865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FBAC8"/>
                </a:solidFill>
                <a:latin typeface="Helvetica Neue"/>
                <a:ea typeface="Helvetica Neue"/>
                <a:cs typeface="Helvetica Neue"/>
              </a:defRPr>
            </a:pPr>
            <a:r>
              <a:rPr sz="1125" b="0">
                <a:solidFill>
                  <a:srgbClr val="AFBAC8"/>
                </a:solidFill>
                <a:latin typeface="Helvetica Neue"/>
                <a:ea typeface="Helvetica Neue"/>
                <a:cs typeface="Helvetica Neue"/>
              </a:rPr>
              <a:t>Video integration informed by Visko-Platform/orbis-hackathon-starter, commit 6de7ad7. Audience, Nebius and Orbis verified in one combined local run.</a:t>
            </a:r>
          </a:p>
        </p:txBody>
      </p:sp>
    </p:spTree>
    <p:extLst>
      <p:ext uri="{BB962C8B-B14F-4D97-AF65-F5344CB8AC3E}">
        <p14:creationId xmlns:p14="http://schemas.microsoft.com/office/powerpoint/2010/main" val="544779675"/>
      </p:ext>
    </p:extLst>
  </p:cSld>
</p:sld>
</file>

<file path=ppt/slides/slide6.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24" name="The live session exposes its progress">
            <a:extLst xmlns:a="http://schemas.openxmlformats.org/drawingml/2006/main">
              <a:ext uri="{FF2B5EF4-FFF2-40B4-BE49-F238E27FC236}">
                <a16:creationId xmlns:a16="http://schemas.microsoft.com/office/drawing/2014/main" id="{4C6B72B7-4039-4C53-A16A-E4CBAE221B20}"/>
              </a:ext>
            </a:extLst>
          </p:cNvPr>
          <p:cNvSpPr>
            <a:spLocks xmlns:a="http://schemas.openxmlformats.org/drawingml/2006/main" noGrp="1"/>
          </p:cNvSpPr>
          <p:nvPr/>
        </p:nvSpPr>
        <p:spPr>
          <a:xfrm xmlns:a="http://schemas.openxmlformats.org/drawingml/2006/main">
            <a:off x="628650" y="48577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3EE"/>
                </a:solidFill>
                <a:latin typeface="Helvetica Neue"/>
                <a:ea typeface="Helvetica Neue"/>
                <a:cs typeface="Helvetica Neue"/>
              </a:defRPr>
            </a:pPr>
            <a:r>
              <a:rPr sz="3450" b="1">
                <a:solidFill>
                  <a:srgbClr val="F4F3EE"/>
                </a:solidFill>
                <a:latin typeface="Helvetica Neue"/>
                <a:ea typeface="Helvetica Neue"/>
                <a:cs typeface="Helvetica Neue"/>
              </a:rPr>
              <a:t>The live session exposes its progress</a:t>
            </a:r>
          </a:p>
        </p:txBody>
      </p:sp>
      <p:sp>
        <p:nvSpPr>
          <p:cNvPr id="2" name="06">
            <a:extLst xmlns:a="http://schemas.openxmlformats.org/drawingml/2006/main">
              <a:ext uri="{FF2B5EF4-FFF2-40B4-BE49-F238E27FC236}">
                <a16:creationId xmlns:a16="http://schemas.microsoft.com/office/drawing/2014/main" id="{38123B4F-6459-4395-BAD8-BB87EF4067C1}"/>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06</a:t>
            </a:r>
          </a:p>
        </p:txBody>
      </p:sp>
      <p:sp>
        <p:nvSpPr>
          <p:cNvPr id="3" name="2560 × 1440">
            <a:extLst xmlns:a="http://schemas.openxmlformats.org/drawingml/2006/main">
              <a:ext uri="{FF2B5EF4-FFF2-40B4-BE49-F238E27FC236}">
                <a16:creationId xmlns:a16="http://schemas.microsoft.com/office/drawing/2014/main" id="{9E951A87-3758-4213-9E6D-9D4B16DDB36D}"/>
              </a:ext>
            </a:extLst>
          </p:cNvPr>
          <p:cNvSpPr>
            <a:spLocks xmlns:a="http://schemas.openxmlformats.org/drawingml/2006/main" noGrp="1"/>
          </p:cNvSpPr>
          <p:nvPr/>
        </p:nvSpPr>
        <p:spPr>
          <a:xfrm xmlns:a="http://schemas.openxmlformats.org/drawingml/2006/main">
            <a:off x="628650" y="1676400"/>
            <a:ext cx="7477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050" b="1">
                <a:solidFill>
                  <a:srgbClr val="F4F3EE"/>
                </a:solidFill>
                <a:latin typeface="Helvetica Neue"/>
                <a:ea typeface="Helvetica Neue"/>
                <a:cs typeface="Helvetica Neue"/>
              </a:defRPr>
            </a:pPr>
            <a:r>
              <a:rPr sz="7050" b="1">
                <a:solidFill>
                  <a:srgbClr val="F4F3EE"/>
                </a:solidFill>
                <a:latin typeface="Helvetica Neue"/>
                <a:ea typeface="Helvetica Neue"/>
                <a:cs typeface="Helvetica Neue"/>
              </a:rPr>
              <a:t>2560 × 1440</a:t>
            </a:r>
          </a:p>
        </p:txBody>
      </p:sp>
      <p:sp>
        <p:nvSpPr>
          <p:cNvPr id="4" name="18 fps">
            <a:extLst xmlns:a="http://schemas.openxmlformats.org/drawingml/2006/main">
              <a:ext uri="{FF2B5EF4-FFF2-40B4-BE49-F238E27FC236}">
                <a16:creationId xmlns:a16="http://schemas.microsoft.com/office/drawing/2014/main" id="{9BE76236-8982-482F-BF0D-E5F0AD64A773}"/>
              </a:ext>
            </a:extLst>
          </p:cNvPr>
          <p:cNvSpPr>
            <a:spLocks xmlns:a="http://schemas.openxmlformats.org/drawingml/2006/main" noGrp="1"/>
          </p:cNvSpPr>
          <p:nvPr/>
        </p:nvSpPr>
        <p:spPr>
          <a:xfrm xmlns:a="http://schemas.openxmlformats.org/drawingml/2006/main">
            <a:off x="8639175" y="1790700"/>
            <a:ext cx="2943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EAC18C"/>
                </a:solidFill>
                <a:latin typeface="Helvetica Neue"/>
                <a:ea typeface="Helvetica Neue"/>
                <a:cs typeface="Helvetica Neue"/>
              </a:defRPr>
            </a:pPr>
            <a:r>
              <a:rPr sz="5850" b="1">
                <a:solidFill>
                  <a:srgbClr val="EAC18C"/>
                </a:solidFill>
                <a:latin typeface="Helvetica Neue"/>
                <a:ea typeface="Helvetica Neue"/>
                <a:cs typeface="Helvetica Neue"/>
              </a:rPr>
              <a:t>18 fps</a:t>
            </a:r>
          </a:p>
        </p:txBody>
      </p:sp>
      <p:sp>
        <p:nvSpPr>
          <p:cNvPr id="5" name="Observed delivery resolution">
            <a:extLst xmlns:a="http://schemas.openxmlformats.org/drawingml/2006/main">
              <a:ext uri="{FF2B5EF4-FFF2-40B4-BE49-F238E27FC236}">
                <a16:creationId xmlns:a16="http://schemas.microsoft.com/office/drawing/2014/main" id="{27DA22E8-4794-4621-A449-CC8D982D7C90}"/>
              </a:ext>
            </a:extLst>
          </p:cNvPr>
          <p:cNvSpPr>
            <a:spLocks xmlns:a="http://schemas.openxmlformats.org/drawingml/2006/main" noGrp="1"/>
          </p:cNvSpPr>
          <p:nvPr/>
        </p:nvSpPr>
        <p:spPr>
          <a:xfrm xmlns:a="http://schemas.openxmlformats.org/drawingml/2006/main">
            <a:off x="666750" y="294322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AFBAC8"/>
                </a:solidFill>
                <a:latin typeface="Helvetica Neue"/>
                <a:ea typeface="Helvetica Neue"/>
                <a:cs typeface="Helvetica Neue"/>
              </a:defRPr>
            </a:pPr>
            <a:r>
              <a:rPr sz="2100" b="0">
                <a:solidFill>
                  <a:srgbClr val="AFBAC8"/>
                </a:solidFill>
                <a:latin typeface="Helvetica Neue"/>
                <a:ea typeface="Helvetica Neue"/>
                <a:cs typeface="Helvetica Neue"/>
              </a:rPr>
              <a:t>Observed delivery resolution</a:t>
            </a:r>
          </a:p>
        </p:txBody>
      </p:sp>
      <p:sp>
        <p:nvSpPr>
          <p:cNvPr id="6" name="Stable session observed">
            <a:extLst xmlns:a="http://schemas.openxmlformats.org/drawingml/2006/main">
              <a:ext uri="{FF2B5EF4-FFF2-40B4-BE49-F238E27FC236}">
                <a16:creationId xmlns:a16="http://schemas.microsoft.com/office/drawing/2014/main" id="{B9357461-A448-4A5F-8FD9-D7C0EE15754F}"/>
              </a:ext>
            </a:extLst>
          </p:cNvPr>
          <p:cNvSpPr>
            <a:spLocks xmlns:a="http://schemas.openxmlformats.org/drawingml/2006/main" noGrp="1"/>
          </p:cNvSpPr>
          <p:nvPr/>
        </p:nvSpPr>
        <p:spPr>
          <a:xfrm xmlns:a="http://schemas.openxmlformats.org/drawingml/2006/main">
            <a:off x="8667750" y="2924175"/>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AFBAC8"/>
                </a:solidFill>
                <a:latin typeface="Helvetica Neue"/>
                <a:ea typeface="Helvetica Neue"/>
                <a:cs typeface="Helvetica Neue"/>
              </a:defRPr>
            </a:pPr>
            <a:r>
              <a:rPr sz="1950" b="0">
                <a:solidFill>
                  <a:srgbClr val="AFBAC8"/>
                </a:solidFill>
                <a:latin typeface="Helvetica Neue"/>
                <a:ea typeface="Helvetica Neue"/>
                <a:cs typeface="Helvetica Neue"/>
              </a:rPr>
              <a:t>Stable session observed</a:t>
            </a:r>
          </a:p>
        </p:txBody>
      </p:sp>
      <p:sp>
        <p:nvSpPr>
          <p:cNvPr id="7" name="Cue sent">
            <a:extLst xmlns:a="http://schemas.openxmlformats.org/drawingml/2006/main">
              <a:ext uri="{FF2B5EF4-FFF2-40B4-BE49-F238E27FC236}">
                <a16:creationId xmlns:a16="http://schemas.microsoft.com/office/drawing/2014/main" id="{6383A086-2DF2-475F-A8B0-AD39766CD9A7}"/>
              </a:ext>
            </a:extLst>
          </p:cNvPr>
          <p:cNvSpPr>
            <a:spLocks xmlns:a="http://schemas.openxmlformats.org/drawingml/2006/main" noGrp="1"/>
          </p:cNvSpPr>
          <p:nvPr/>
        </p:nvSpPr>
        <p:spPr>
          <a:xfrm xmlns:a="http://schemas.openxmlformats.org/drawingml/2006/main">
            <a:off x="628650" y="4048125"/>
            <a:ext cx="2409825" cy="1152525"/>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8" name="Cue sent">
            <a:extLst xmlns:a="http://schemas.openxmlformats.org/drawingml/2006/main">
              <a:ext uri="{FF2B5EF4-FFF2-40B4-BE49-F238E27FC236}">
                <a16:creationId xmlns:a16="http://schemas.microsoft.com/office/drawing/2014/main" id="{B35140C9-AF32-4AD3-BFEE-04C188384777}"/>
              </a:ext>
            </a:extLst>
          </p:cNvPr>
          <p:cNvSpPr>
            <a:spLocks xmlns:a="http://schemas.openxmlformats.org/drawingml/2006/main" noGrp="1"/>
          </p:cNvSpPr>
          <p:nvPr/>
        </p:nvSpPr>
        <p:spPr>
          <a:xfrm xmlns:a="http://schemas.openxmlformats.org/drawingml/2006/main">
            <a:off x="781050" y="4219575"/>
            <a:ext cx="2105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Cue sent</a:t>
            </a:r>
          </a:p>
        </p:txBody>
      </p:sp>
      <p:sp>
        <p:nvSpPr>
          <p:cNvPr id="9" name="set_prompt">
            <a:extLst xmlns:a="http://schemas.openxmlformats.org/drawingml/2006/main">
              <a:ext uri="{FF2B5EF4-FFF2-40B4-BE49-F238E27FC236}">
                <a16:creationId xmlns:a16="http://schemas.microsoft.com/office/drawing/2014/main" id="{0EFF57A3-650E-4182-8F23-7E5DE20100FE}"/>
              </a:ext>
            </a:extLst>
          </p:cNvPr>
          <p:cNvSpPr>
            <a:spLocks xmlns:a="http://schemas.openxmlformats.org/drawingml/2006/main" noGrp="1"/>
          </p:cNvSpPr>
          <p:nvPr/>
        </p:nvSpPr>
        <p:spPr>
          <a:xfrm xmlns:a="http://schemas.openxmlformats.org/drawingml/2006/main">
            <a:off x="781050" y="4714875"/>
            <a:ext cx="2105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set_prompt</a:t>
            </a:r>
          </a:p>
        </p:txBody>
      </p:sp>
      <p:sp>
        <p:nvSpPr>
          <p:cNvPr id="10" name="Accepted">
            <a:extLst xmlns:a="http://schemas.openxmlformats.org/drawingml/2006/main">
              <a:ext uri="{FF2B5EF4-FFF2-40B4-BE49-F238E27FC236}">
                <a16:creationId xmlns:a16="http://schemas.microsoft.com/office/drawing/2014/main" id="{8142BB54-0FB5-4B68-B5D6-253DDE7FD397}"/>
              </a:ext>
            </a:extLst>
          </p:cNvPr>
          <p:cNvSpPr>
            <a:spLocks xmlns:a="http://schemas.openxmlformats.org/drawingml/2006/main" noGrp="1"/>
          </p:cNvSpPr>
          <p:nvPr/>
        </p:nvSpPr>
        <p:spPr>
          <a:xfrm xmlns:a="http://schemas.openxmlformats.org/drawingml/2006/main">
            <a:off x="3505200" y="4048125"/>
            <a:ext cx="2409825" cy="1152525"/>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11" name="Accepted">
            <a:extLst xmlns:a="http://schemas.openxmlformats.org/drawingml/2006/main">
              <a:ext uri="{FF2B5EF4-FFF2-40B4-BE49-F238E27FC236}">
                <a16:creationId xmlns:a16="http://schemas.microsoft.com/office/drawing/2014/main" id="{78FC40EA-F749-4C35-89FB-6A2654284D16}"/>
              </a:ext>
            </a:extLst>
          </p:cNvPr>
          <p:cNvSpPr>
            <a:spLocks xmlns:a="http://schemas.openxmlformats.org/drawingml/2006/main" noGrp="1"/>
          </p:cNvSpPr>
          <p:nvPr/>
        </p:nvSpPr>
        <p:spPr>
          <a:xfrm xmlns:a="http://schemas.openxmlformats.org/drawingml/2006/main">
            <a:off x="3657600" y="4219575"/>
            <a:ext cx="2105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Accepted</a:t>
            </a:r>
          </a:p>
        </p:txBody>
      </p:sp>
      <p:sp>
        <p:nvSpPr>
          <p:cNvPr id="12" name="Command reply">
            <a:extLst xmlns:a="http://schemas.openxmlformats.org/drawingml/2006/main">
              <a:ext uri="{FF2B5EF4-FFF2-40B4-BE49-F238E27FC236}">
                <a16:creationId xmlns:a16="http://schemas.microsoft.com/office/drawing/2014/main" id="{AEDCD818-0CBC-413B-B21B-6F7B75EA3285}"/>
              </a:ext>
            </a:extLst>
          </p:cNvPr>
          <p:cNvSpPr>
            <a:spLocks xmlns:a="http://schemas.openxmlformats.org/drawingml/2006/main" noGrp="1"/>
          </p:cNvSpPr>
          <p:nvPr/>
        </p:nvSpPr>
        <p:spPr>
          <a:xfrm xmlns:a="http://schemas.openxmlformats.org/drawingml/2006/main">
            <a:off x="3657600" y="4714875"/>
            <a:ext cx="2105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Command reply</a:t>
            </a:r>
          </a:p>
        </p:txBody>
      </p:sp>
      <p:sp>
        <p:nvSpPr>
          <p:cNvPr id="13" name="Next chunk">
            <a:extLst xmlns:a="http://schemas.openxmlformats.org/drawingml/2006/main">
              <a:ext uri="{FF2B5EF4-FFF2-40B4-BE49-F238E27FC236}">
                <a16:creationId xmlns:a16="http://schemas.microsoft.com/office/drawing/2014/main" id="{80061EF3-BE57-43C6-805A-A5E15D44DDC1}"/>
              </a:ext>
            </a:extLst>
          </p:cNvPr>
          <p:cNvSpPr>
            <a:spLocks xmlns:a="http://schemas.openxmlformats.org/drawingml/2006/main" noGrp="1"/>
          </p:cNvSpPr>
          <p:nvPr/>
        </p:nvSpPr>
        <p:spPr>
          <a:xfrm xmlns:a="http://schemas.openxmlformats.org/drawingml/2006/main">
            <a:off x="6381750" y="4048125"/>
            <a:ext cx="2409825" cy="1152525"/>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14" name="Next chunk">
            <a:extLst xmlns:a="http://schemas.openxmlformats.org/drawingml/2006/main">
              <a:ext uri="{FF2B5EF4-FFF2-40B4-BE49-F238E27FC236}">
                <a16:creationId xmlns:a16="http://schemas.microsoft.com/office/drawing/2014/main" id="{FECEBD5D-49D2-4945-ACFE-23FFF5B3A552}"/>
              </a:ext>
            </a:extLst>
          </p:cNvPr>
          <p:cNvSpPr>
            <a:spLocks xmlns:a="http://schemas.openxmlformats.org/drawingml/2006/main" noGrp="1"/>
          </p:cNvSpPr>
          <p:nvPr/>
        </p:nvSpPr>
        <p:spPr>
          <a:xfrm xmlns:a="http://schemas.openxmlformats.org/drawingml/2006/main">
            <a:off x="6534150" y="4219575"/>
            <a:ext cx="2105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Next chunk</a:t>
            </a:r>
          </a:p>
        </p:txBody>
      </p:sp>
      <p:sp>
        <p:nvSpPr>
          <p:cNvPr id="15" name="chunk_complete">
            <a:extLst xmlns:a="http://schemas.openxmlformats.org/drawingml/2006/main">
              <a:ext uri="{FF2B5EF4-FFF2-40B4-BE49-F238E27FC236}">
                <a16:creationId xmlns:a16="http://schemas.microsoft.com/office/drawing/2014/main" id="{8ED0BA30-0943-4BD8-820F-591E4D5790F5}"/>
              </a:ext>
            </a:extLst>
          </p:cNvPr>
          <p:cNvSpPr>
            <a:spLocks xmlns:a="http://schemas.openxmlformats.org/drawingml/2006/main" noGrp="1"/>
          </p:cNvSpPr>
          <p:nvPr/>
        </p:nvSpPr>
        <p:spPr>
          <a:xfrm xmlns:a="http://schemas.openxmlformats.org/drawingml/2006/main">
            <a:off x="6534150" y="4714875"/>
            <a:ext cx="2105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chunk_complete</a:t>
            </a:r>
          </a:p>
        </p:txBody>
      </p:sp>
      <p:sp>
        <p:nvSpPr>
          <p:cNvPr id="16" name="Picture checked">
            <a:extLst xmlns:a="http://schemas.openxmlformats.org/drawingml/2006/main">
              <a:ext uri="{FF2B5EF4-FFF2-40B4-BE49-F238E27FC236}">
                <a16:creationId xmlns:a16="http://schemas.microsoft.com/office/drawing/2014/main" id="{9FB2B8E6-BF19-400D-B2BD-D4CB8FDDF9CB}"/>
              </a:ext>
            </a:extLst>
          </p:cNvPr>
          <p:cNvSpPr>
            <a:spLocks xmlns:a="http://schemas.openxmlformats.org/drawingml/2006/main" noGrp="1"/>
          </p:cNvSpPr>
          <p:nvPr/>
        </p:nvSpPr>
        <p:spPr>
          <a:xfrm xmlns:a="http://schemas.openxmlformats.org/drawingml/2006/main">
            <a:off x="9258300" y="4048125"/>
            <a:ext cx="2305050" cy="1152525"/>
          </a:xfrm>
          <a:prstGeom xmlns:a="http://schemas.openxmlformats.org/drawingml/2006/main" prst="rect">
            <a:avLst/>
          </a:prstGeom>
          <a:solidFill xmlns:a="http://schemas.openxmlformats.org/drawingml/2006/main">
            <a:srgbClr val="182538"/>
          </a:solidFill>
          <a:ln xmlns:a="http://schemas.openxmlformats.org/drawingml/2006/main" w="9525">
            <a:solidFill>
              <a:srgbClr val="415064"/>
            </a:solidFill>
            <a:prstDash val="solid"/>
          </a:ln>
        </p:spPr>
      </p:sp>
      <p:sp>
        <p:nvSpPr>
          <p:cNvPr id="17" name="Picture checked">
            <a:extLst xmlns:a="http://schemas.openxmlformats.org/drawingml/2006/main">
              <a:ext uri="{FF2B5EF4-FFF2-40B4-BE49-F238E27FC236}">
                <a16:creationId xmlns:a16="http://schemas.microsoft.com/office/drawing/2014/main" id="{7C7FB6F7-26A0-4F84-BA6A-45FA13B698CC}"/>
              </a:ext>
            </a:extLst>
          </p:cNvPr>
          <p:cNvSpPr>
            <a:spLocks xmlns:a="http://schemas.openxmlformats.org/drawingml/2006/main" noGrp="1"/>
          </p:cNvSpPr>
          <p:nvPr/>
        </p:nvSpPr>
        <p:spPr>
          <a:xfrm xmlns:a="http://schemas.openxmlformats.org/drawingml/2006/main">
            <a:off x="9410700" y="4219575"/>
            <a:ext cx="200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4F3EE"/>
                </a:solidFill>
                <a:latin typeface="Helvetica Neue"/>
                <a:ea typeface="Helvetica Neue"/>
                <a:cs typeface="Helvetica Neue"/>
              </a:defRPr>
            </a:pPr>
            <a:r>
              <a:rPr sz="1800" b="1">
                <a:solidFill>
                  <a:srgbClr val="F4F3EE"/>
                </a:solidFill>
                <a:latin typeface="Helvetica Neue"/>
                <a:ea typeface="Helvetica Neue"/>
                <a:cs typeface="Helvetica Neue"/>
              </a:rPr>
              <a:t>Picture checked</a:t>
            </a:r>
          </a:p>
        </p:txBody>
      </p:sp>
      <p:sp>
        <p:nvSpPr>
          <p:cNvPr id="18" name="Human observation">
            <a:extLst xmlns:a="http://schemas.openxmlformats.org/drawingml/2006/main">
              <a:ext uri="{FF2B5EF4-FFF2-40B4-BE49-F238E27FC236}">
                <a16:creationId xmlns:a16="http://schemas.microsoft.com/office/drawing/2014/main" id="{C0939E70-4D04-40C7-A8AA-A9CE2F0FB794}"/>
              </a:ext>
            </a:extLst>
          </p:cNvPr>
          <p:cNvSpPr>
            <a:spLocks xmlns:a="http://schemas.openxmlformats.org/drawingml/2006/main" noGrp="1"/>
          </p:cNvSpPr>
          <p:nvPr/>
        </p:nvSpPr>
        <p:spPr>
          <a:xfrm xmlns:a="http://schemas.openxmlformats.org/drawingml/2006/main">
            <a:off x="9410700" y="4714875"/>
            <a:ext cx="200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AFBAC8"/>
                </a:solidFill>
                <a:latin typeface="Helvetica Neue"/>
                <a:ea typeface="Helvetica Neue"/>
                <a:cs typeface="Helvetica Neue"/>
              </a:defRPr>
            </a:pPr>
            <a:r>
              <a:rPr sz="1425" b="0">
                <a:solidFill>
                  <a:srgbClr val="AFBAC8"/>
                </a:solidFill>
                <a:latin typeface="Helvetica Neue"/>
                <a:ea typeface="Helvetica Neue"/>
                <a:cs typeface="Helvetica Neue"/>
              </a:rPr>
              <a:t>Human observation</a:t>
            </a:r>
          </a:p>
        </p:txBody>
      </p:sp>
      <p:cxnSp>
        <p:nvCxnSpPr>
          <p:cNvPr id="42" name=""/>
          <p:cNvCxnSpPr>
            <a:stCxn xmlns:a="http://schemas.openxmlformats.org/drawingml/2006/main" id="7" idx="3"/>
            <a:endCxn xmlns:a="http://schemas.openxmlformats.org/drawingml/2006/main" id="10" idx="1"/>
          </p:cNvCxnSpPr>
          <p:nvPr/>
        </p:nvCxnSpPr>
        <p:spPr>
          <a:xfrm xmlns:a="http://schemas.openxmlformats.org/drawingml/2006/main">
            <a:off x="3038475" y="4624388"/>
            <a:ext cx="466725"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cxnSp>
        <p:nvCxnSpPr>
          <p:cNvPr id="43" name=""/>
          <p:cNvCxnSpPr>
            <a:stCxn xmlns:a="http://schemas.openxmlformats.org/drawingml/2006/main" id="10" idx="3"/>
            <a:endCxn xmlns:a="http://schemas.openxmlformats.org/drawingml/2006/main" id="13" idx="1"/>
          </p:cNvCxnSpPr>
          <p:nvPr/>
        </p:nvCxnSpPr>
        <p:spPr>
          <a:xfrm xmlns:a="http://schemas.openxmlformats.org/drawingml/2006/main">
            <a:off x="5915025" y="4624388"/>
            <a:ext cx="466725"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cxnSp>
        <p:nvCxnSpPr>
          <p:cNvPr id="44" name=""/>
          <p:cNvCxnSpPr>
            <a:stCxn xmlns:a="http://schemas.openxmlformats.org/drawingml/2006/main" id="13" idx="3"/>
            <a:endCxn xmlns:a="http://schemas.openxmlformats.org/drawingml/2006/main" id="16" idx="1"/>
          </p:cNvCxnSpPr>
          <p:nvPr/>
        </p:nvCxnSpPr>
        <p:spPr>
          <a:xfrm xmlns:a="http://schemas.openxmlformats.org/drawingml/2006/main">
            <a:off x="8791575" y="4624388"/>
            <a:ext cx="466725" cy="0"/>
          </a:xfrm>
          <a:prstGeom xmlns:a="http://schemas.openxmlformats.org/drawingml/2006/main" prst="straightConnector1">
            <a:avLst/>
          </a:prstGeom>
          <a:ln xmlns:a="http://schemas.openxmlformats.org/drawingml/2006/main" w="19050">
            <a:solidFill>
              <a:srgbClr val="EAC18C"/>
            </a:solidFill>
            <a:prstDash val="solid"/>
            <a:tailEnd type="triangle" w="sm" len="sm"/>
          </a:ln>
        </p:spPr>
      </p:cxnSp>
      <p:sp>
        <p:nvSpPr>
          <p:cNvPr id="22" name="Latency varies. Command acceptance does not e">
            <a:extLst xmlns:a="http://schemas.openxmlformats.org/drawingml/2006/main">
              <a:ext uri="{FF2B5EF4-FFF2-40B4-BE49-F238E27FC236}">
                <a16:creationId xmlns:a16="http://schemas.microsoft.com/office/drawing/2014/main" id="{3F52792B-9A77-4C1B-994B-38A321DB3BDA}"/>
              </a:ext>
            </a:extLst>
          </p:cNvPr>
          <p:cNvSpPr>
            <a:spLocks xmlns:a="http://schemas.openxmlformats.org/drawingml/2006/main" noGrp="1"/>
          </p:cNvSpPr>
          <p:nvPr/>
        </p:nvSpPr>
        <p:spPr>
          <a:xfrm xmlns:a="http://schemas.openxmlformats.org/drawingml/2006/main">
            <a:off x="628650" y="55626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4F3EE"/>
                </a:solidFill>
                <a:latin typeface="Helvetica Neue"/>
                <a:ea typeface="Helvetica Neue"/>
                <a:cs typeface="Helvetica Neue"/>
              </a:defRPr>
            </a:pPr>
            <a:r>
              <a:rPr sz="2175" b="0">
                <a:solidFill>
                  <a:srgbClr val="F4F3EE"/>
                </a:solidFill>
                <a:latin typeface="Helvetica Neue"/>
                <a:ea typeface="Helvetica Neue"/>
                <a:cs typeface="Helvetica Neue"/>
              </a:rPr>
              <a:t>Latency varies. Command acceptance does not establish visual compliance.</a:t>
            </a:r>
          </a:p>
        </p:txBody>
      </p:sp>
      <p:sp>
        <p:nvSpPr>
          <p:cNvPr id="23" name="Stable session observed with reference image ">
            <a:extLst xmlns:a="http://schemas.openxmlformats.org/drawingml/2006/main">
              <a:ext uri="{FF2B5EF4-FFF2-40B4-BE49-F238E27FC236}">
                <a16:creationId xmlns:a16="http://schemas.microsoft.com/office/drawing/2014/main" id="{93332DA1-D900-4155-96FE-21B0C09DAF4A}"/>
              </a:ext>
            </a:extLst>
          </p:cNvPr>
          <p:cNvSpPr>
            <a:spLocks xmlns:a="http://schemas.openxmlformats.org/drawingml/2006/main" noGrp="1"/>
          </p:cNvSpPr>
          <p:nvPr/>
        </p:nvSpPr>
        <p:spPr>
          <a:xfrm xmlns:a="http://schemas.openxmlformats.org/drawingml/2006/main">
            <a:off x="628650" y="63150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AFBAC8"/>
                </a:solidFill>
                <a:latin typeface="Helvetica Neue"/>
                <a:ea typeface="Helvetica Neue"/>
                <a:cs typeface="Helvetica Neue"/>
              </a:defRPr>
            </a:pPr>
            <a:r>
              <a:rPr sz="1125" b="0">
                <a:solidFill>
                  <a:srgbClr val="AFBAC8"/>
                </a:solidFill>
                <a:latin typeface="Helvetica Neue"/>
                <a:ea typeface="Helvetica Neue"/>
                <a:cs typeface="Helvetica Neue"/>
              </a:rPr>
              <a:t>Stable session observed with reference image confirmed. Earlier Dynamic session also observed. Delivery is upscaled.</a:t>
            </a:r>
          </a:p>
        </p:txBody>
      </p:sp>
    </p:spTree>
    <p:extLst>
      <p:ext uri="{BB962C8B-B14F-4D97-AF65-F5344CB8AC3E}">
        <p14:creationId xmlns:p14="http://schemas.microsoft.com/office/powerpoint/2010/main" val="1326734220"/>
      </p:ext>
    </p:extLst>
  </p:cSld>
</p:sld>
</file>

<file path=ppt/slides/slide7.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14" name="07">
            <a:extLst xmlns:a="http://schemas.openxmlformats.org/drawingml/2006/main">
              <a:ext uri="{FF2B5EF4-FFF2-40B4-BE49-F238E27FC236}">
                <a16:creationId xmlns:a16="http://schemas.microsoft.com/office/drawing/2014/main" id="{FF74B0B7-7B52-4983-95A4-14A5AB280F64}"/>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e45846b49034d4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FFD52E-5D65-4154-BD11-017EE5DD48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80B12">
              <a:alpha val="84000"/>
            </a:srgbClr>
          </a:solidFill>
          <a:ln xmlns:a="http://schemas.openxmlformats.org/drawingml/2006/main" w="0">
            <a:noFill/>
          </a:ln>
        </p:spPr>
      </p:sp>
      <p:sp>
        <p:nvSpPr>
          <p:cNvPr id="4" name="Creative control preserves the scene">
            <a:extLst xmlns:a="http://schemas.openxmlformats.org/drawingml/2006/main">
              <a:ext uri="{FF2B5EF4-FFF2-40B4-BE49-F238E27FC236}">
                <a16:creationId xmlns:a16="http://schemas.microsoft.com/office/drawing/2014/main" id="{D116F519-C520-44BD-86E3-E3717371E0DE}"/>
              </a:ext>
            </a:extLst>
          </p:cNvPr>
          <p:cNvSpPr>
            <a:spLocks xmlns:a="http://schemas.openxmlformats.org/drawingml/2006/main" noGrp="1"/>
          </p:cNvSpPr>
          <p:nvPr/>
        </p:nvSpPr>
        <p:spPr>
          <a:xfrm xmlns:a="http://schemas.openxmlformats.org/drawingml/2006/main">
            <a:off x="628650" y="485775"/>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3EE"/>
                </a:solidFill>
                <a:latin typeface="Helvetica Neue"/>
                <a:ea typeface="Helvetica Neue"/>
                <a:cs typeface="Helvetica Neue"/>
              </a:defRPr>
            </a:pPr>
            <a:r>
              <a:rPr sz="3450" b="1">
                <a:solidFill>
                  <a:srgbClr val="F4F3EE"/>
                </a:solidFill>
                <a:latin typeface="Helvetica Neue"/>
                <a:ea typeface="Helvetica Neue"/>
                <a:cs typeface="Helvetica Neue"/>
              </a:rPr>
              <a:t>Creative control preserves the scene</a:t>
            </a:r>
          </a:p>
        </p:txBody>
      </p:sp>
      <p:sp>
        <p:nvSpPr>
          <p:cNvPr id="5" name="Continuity">
            <a:extLst xmlns:a="http://schemas.openxmlformats.org/drawingml/2006/main">
              <a:ext uri="{FF2B5EF4-FFF2-40B4-BE49-F238E27FC236}">
                <a16:creationId xmlns:a16="http://schemas.microsoft.com/office/drawing/2014/main" id="{41885161-3D3A-422D-9262-6F04A2548D3A}"/>
              </a:ext>
            </a:extLst>
          </p:cNvPr>
          <p:cNvSpPr>
            <a:spLocks xmlns:a="http://schemas.openxmlformats.org/drawingml/2006/main" noGrp="1"/>
          </p:cNvSpPr>
          <p:nvPr/>
        </p:nvSpPr>
        <p:spPr>
          <a:xfrm xmlns:a="http://schemas.openxmlformats.org/drawingml/2006/main">
            <a:off x="628650" y="19335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C18C"/>
                </a:solidFill>
                <a:latin typeface="Helvetica Neue"/>
                <a:ea typeface="Helvetica Neue"/>
                <a:cs typeface="Helvetica Neue"/>
              </a:defRPr>
            </a:pPr>
            <a:r>
              <a:rPr sz="2175" b="1">
                <a:solidFill>
                  <a:srgbClr val="EAC18C"/>
                </a:solidFill>
                <a:latin typeface="Helvetica Neue"/>
                <a:ea typeface="Helvetica Neue"/>
                <a:cs typeface="Helvetica Neue"/>
              </a:rPr>
              <a:t>Continuity</a:t>
            </a:r>
          </a:p>
        </p:txBody>
      </p:sp>
      <p:sp>
        <p:nvSpPr>
          <p:cNvPr id="6" name="Story memory anchors the character,&#10;clothing,">
            <a:extLst xmlns:a="http://schemas.openxmlformats.org/drawingml/2006/main">
              <a:ext uri="{FF2B5EF4-FFF2-40B4-BE49-F238E27FC236}">
                <a16:creationId xmlns:a16="http://schemas.microsoft.com/office/drawing/2014/main" id="{0AB07EF9-0F2D-4D70-BF9F-A560CCF56AFA}"/>
              </a:ext>
            </a:extLst>
          </p:cNvPr>
          <p:cNvSpPr>
            <a:spLocks xmlns:a="http://schemas.openxmlformats.org/drawingml/2006/main" noGrp="1"/>
          </p:cNvSpPr>
          <p:nvPr/>
        </p:nvSpPr>
        <p:spPr>
          <a:xfrm xmlns:a="http://schemas.openxmlformats.org/drawingml/2006/main">
            <a:off x="628650" y="24765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Story memory anchors the character,</a:t>
            </a:r>
          </a:p>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clothing, setting, and active branch.</a:t>
            </a:r>
          </a:p>
        </p:txBody>
      </p:sp>
      <p:sp>
        <p:nvSpPr>
          <p:cNvPr id="7" name="Visible change">
            <a:extLst xmlns:a="http://schemas.openxmlformats.org/drawingml/2006/main">
              <a:ext uri="{FF2B5EF4-FFF2-40B4-BE49-F238E27FC236}">
                <a16:creationId xmlns:a16="http://schemas.microsoft.com/office/drawing/2014/main" id="{B41286C7-E5D3-4BA6-8B0F-D3047605CBB2}"/>
              </a:ext>
            </a:extLst>
          </p:cNvPr>
          <p:cNvSpPr>
            <a:spLocks xmlns:a="http://schemas.openxmlformats.org/drawingml/2006/main" noGrp="1"/>
          </p:cNvSpPr>
          <p:nvPr/>
        </p:nvSpPr>
        <p:spPr>
          <a:xfrm xmlns:a="http://schemas.openxmlformats.org/drawingml/2006/main">
            <a:off x="6600825" y="1933575"/>
            <a:ext cx="4962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C18C"/>
                </a:solidFill>
                <a:latin typeface="Helvetica Neue"/>
                <a:ea typeface="Helvetica Neue"/>
                <a:cs typeface="Helvetica Neue"/>
              </a:defRPr>
            </a:pPr>
            <a:r>
              <a:rPr sz="2175" b="1">
                <a:solidFill>
                  <a:srgbClr val="EAC18C"/>
                </a:solidFill>
                <a:latin typeface="Helvetica Neue"/>
                <a:ea typeface="Helvetica Neue"/>
                <a:cs typeface="Helvetica Neue"/>
              </a:rPr>
              <a:t>Visible change</a:t>
            </a:r>
          </a:p>
        </p:txBody>
      </p:sp>
      <p:sp>
        <p:nvSpPr>
          <p:cNvPr id="8" name="A direction describes one action&#10;that the pic">
            <a:extLst xmlns:a="http://schemas.openxmlformats.org/drawingml/2006/main">
              <a:ext uri="{FF2B5EF4-FFF2-40B4-BE49-F238E27FC236}">
                <a16:creationId xmlns:a16="http://schemas.microsoft.com/office/drawing/2014/main" id="{A45D5257-3250-4CC5-8F9F-F6A81B05F38C}"/>
              </a:ext>
            </a:extLst>
          </p:cNvPr>
          <p:cNvSpPr>
            <a:spLocks xmlns:a="http://schemas.openxmlformats.org/drawingml/2006/main" noGrp="1"/>
          </p:cNvSpPr>
          <p:nvPr/>
        </p:nvSpPr>
        <p:spPr>
          <a:xfrm xmlns:a="http://schemas.openxmlformats.org/drawingml/2006/main">
            <a:off x="6600825" y="2476500"/>
            <a:ext cx="49625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A direction describes one action</a:t>
            </a:r>
          </a:p>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that the picture can show.</a:t>
            </a:r>
          </a:p>
        </p:txBody>
      </p:sp>
      <p:sp>
        <p:nvSpPr>
          <p:cNvPr id="9" name="Branching">
            <a:extLst xmlns:a="http://schemas.openxmlformats.org/drawingml/2006/main">
              <a:ext uri="{FF2B5EF4-FFF2-40B4-BE49-F238E27FC236}">
                <a16:creationId xmlns:a16="http://schemas.microsoft.com/office/drawing/2014/main" id="{B7A66398-F58B-4F58-BBC7-F114836C22FA}"/>
              </a:ext>
            </a:extLst>
          </p:cNvPr>
          <p:cNvSpPr>
            <a:spLocks xmlns:a="http://schemas.openxmlformats.org/drawingml/2006/main" noGrp="1"/>
          </p:cNvSpPr>
          <p:nvPr/>
        </p:nvSpPr>
        <p:spPr>
          <a:xfrm xmlns:a="http://schemas.openxmlformats.org/drawingml/2006/main">
            <a:off x="628650" y="40576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C18C"/>
                </a:solidFill>
                <a:latin typeface="Helvetica Neue"/>
                <a:ea typeface="Helvetica Neue"/>
                <a:cs typeface="Helvetica Neue"/>
              </a:defRPr>
            </a:pPr>
            <a:r>
              <a:rPr sz="2175" b="1">
                <a:solidFill>
                  <a:srgbClr val="EAC18C"/>
                </a:solidFill>
                <a:latin typeface="Helvetica Neue"/>
                <a:ea typeface="Helvetica Neue"/>
                <a:cs typeface="Helvetica Neue"/>
              </a:rPr>
              <a:t>Branching</a:t>
            </a:r>
          </a:p>
        </p:txBody>
      </p:sp>
      <p:sp>
        <p:nvSpPr>
          <p:cNvPr id="10" name="Earlier scenes remain available.&#10;Abandoned fu">
            <a:extLst xmlns:a="http://schemas.openxmlformats.org/drawingml/2006/main">
              <a:ext uri="{FF2B5EF4-FFF2-40B4-BE49-F238E27FC236}">
                <a16:creationId xmlns:a16="http://schemas.microsoft.com/office/drawing/2014/main" id="{372B521F-5C99-4224-ABC7-59996F051C3A}"/>
              </a:ext>
            </a:extLst>
          </p:cNvPr>
          <p:cNvSpPr>
            <a:spLocks xmlns:a="http://schemas.openxmlformats.org/drawingml/2006/main" noGrp="1"/>
          </p:cNvSpPr>
          <p:nvPr/>
        </p:nvSpPr>
        <p:spPr>
          <a:xfrm xmlns:a="http://schemas.openxmlformats.org/drawingml/2006/main">
            <a:off x="628650" y="460057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Earlier scenes remain available.</a:t>
            </a:r>
          </a:p>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Abandoned futures leave the context.</a:t>
            </a:r>
          </a:p>
        </p:txBody>
      </p:sp>
      <p:sp>
        <p:nvSpPr>
          <p:cNvPr id="11" name="Live cues">
            <a:extLst xmlns:a="http://schemas.openxmlformats.org/drawingml/2006/main">
              <a:ext uri="{FF2B5EF4-FFF2-40B4-BE49-F238E27FC236}">
                <a16:creationId xmlns:a16="http://schemas.microsoft.com/office/drawing/2014/main" id="{1BB136EB-E361-4319-900E-0CB8FEA9A911}"/>
              </a:ext>
            </a:extLst>
          </p:cNvPr>
          <p:cNvSpPr>
            <a:spLocks xmlns:a="http://schemas.openxmlformats.org/drawingml/2006/main" noGrp="1"/>
          </p:cNvSpPr>
          <p:nvPr/>
        </p:nvSpPr>
        <p:spPr>
          <a:xfrm xmlns:a="http://schemas.openxmlformats.org/drawingml/2006/main">
            <a:off x="6600825" y="4057650"/>
            <a:ext cx="4962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EAC18C"/>
                </a:solidFill>
                <a:latin typeface="Helvetica Neue"/>
                <a:ea typeface="Helvetica Neue"/>
                <a:cs typeface="Helvetica Neue"/>
              </a:defRPr>
            </a:pPr>
            <a:r>
              <a:rPr sz="2175" b="1">
                <a:solidFill>
                  <a:srgbClr val="EAC18C"/>
                </a:solidFill>
                <a:latin typeface="Helvetica Neue"/>
                <a:ea typeface="Helvetica Neue"/>
                <a:cs typeface="Helvetica Neue"/>
              </a:rPr>
              <a:t>Live cues</a:t>
            </a:r>
          </a:p>
        </p:txBody>
      </p:sp>
      <p:sp>
        <p:nvSpPr>
          <p:cNvPr id="12" name="Camera and lighting controls&#10;reshape the ongo">
            <a:extLst xmlns:a="http://schemas.openxmlformats.org/drawingml/2006/main">
              <a:ext uri="{FF2B5EF4-FFF2-40B4-BE49-F238E27FC236}">
                <a16:creationId xmlns:a16="http://schemas.microsoft.com/office/drawing/2014/main" id="{86DF4C87-BD6C-4BE5-8834-AB641688D5D9}"/>
              </a:ext>
            </a:extLst>
          </p:cNvPr>
          <p:cNvSpPr>
            <a:spLocks xmlns:a="http://schemas.openxmlformats.org/drawingml/2006/main" noGrp="1"/>
          </p:cNvSpPr>
          <p:nvPr/>
        </p:nvSpPr>
        <p:spPr>
          <a:xfrm xmlns:a="http://schemas.openxmlformats.org/drawingml/2006/main">
            <a:off x="6600825" y="4600575"/>
            <a:ext cx="49625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Camera and lighting controls</a:t>
            </a:r>
          </a:p>
          <a:p xmlns:a="http://schemas.openxmlformats.org/drawingml/2006/main">
            <a:pPr algn="l">
              <a:defRPr sz="1950" b="0">
                <a:solidFill>
                  <a:srgbClr val="F4F3EE"/>
                </a:solidFill>
                <a:latin typeface="Helvetica Neue"/>
                <a:ea typeface="Helvetica Neue"/>
                <a:cs typeface="Helvetica Neue"/>
              </a:defRPr>
            </a:pPr>
            <a:r>
              <a:rPr sz="1950" b="0">
                <a:solidFill>
                  <a:srgbClr val="F4F3EE"/>
                </a:solidFill>
                <a:latin typeface="Helvetica Neue"/>
                <a:ea typeface="Helvetica Neue"/>
                <a:cs typeface="Helvetica Neue"/>
              </a:rPr>
              <a:t>reshape the ongoing shot.</a:t>
            </a:r>
          </a:p>
        </p:txBody>
      </p:sp>
      <p:sp>
        <p:nvSpPr>
          <p:cNvPr id="13" name="Continuity is a model instruction, not a guar">
            <a:extLst xmlns:a="http://schemas.openxmlformats.org/drawingml/2006/main">
              <a:ext uri="{FF2B5EF4-FFF2-40B4-BE49-F238E27FC236}">
                <a16:creationId xmlns:a16="http://schemas.microsoft.com/office/drawing/2014/main" id="{7C0D302E-C29E-4B50-8F72-438CDEBFA750}"/>
              </a:ext>
            </a:extLst>
          </p:cNvPr>
          <p:cNvSpPr>
            <a:spLocks xmlns:a="http://schemas.openxmlformats.org/drawingml/2006/main" noGrp="1"/>
          </p:cNvSpPr>
          <p:nvPr/>
        </p:nvSpPr>
        <p:spPr>
          <a:xfrm xmlns:a="http://schemas.openxmlformats.org/drawingml/2006/main">
            <a:off x="628650" y="6286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Continuity is a model instruction, not a guaranteed visual result. Background: NASA/NCSA cosmic-web simulation.</a:t>
            </a:r>
          </a:p>
        </p:txBody>
      </p:sp>
    </p:spTree>
    <p:extLst>
      <p:ext uri="{BB962C8B-B14F-4D97-AF65-F5344CB8AC3E}">
        <p14:creationId xmlns:p14="http://schemas.microsoft.com/office/powerpoint/2010/main" val="1005737896"/>
      </p:ext>
    </p:extLst>
  </p:cSld>
</p:sld>
</file>

<file path=ppt/slides/slide8.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9" name="The application behavior has test evidence">
            <a:extLst xmlns:a="http://schemas.openxmlformats.org/drawingml/2006/main">
              <a:ext uri="{FF2B5EF4-FFF2-40B4-BE49-F238E27FC236}">
                <a16:creationId xmlns:a16="http://schemas.microsoft.com/office/drawing/2014/main" id="{6F136AE1-A80B-4292-84D1-455BA057E46D}"/>
              </a:ext>
            </a:extLst>
          </p:cNvPr>
          <p:cNvSpPr>
            <a:spLocks xmlns:a="http://schemas.openxmlformats.org/drawingml/2006/main" noGrp="1"/>
          </p:cNvSpPr>
          <p:nvPr/>
        </p:nvSpPr>
        <p:spPr>
          <a:xfrm xmlns:a="http://schemas.openxmlformats.org/drawingml/2006/main">
            <a:off x="628650" y="48577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3EE"/>
                </a:solidFill>
                <a:latin typeface="Helvetica Neue"/>
                <a:ea typeface="Helvetica Neue"/>
                <a:cs typeface="Helvetica Neue"/>
              </a:defRPr>
            </a:pPr>
            <a:r>
              <a:rPr sz="3450" b="1">
                <a:solidFill>
                  <a:srgbClr val="F4F3EE"/>
                </a:solidFill>
                <a:latin typeface="Helvetica Neue"/>
                <a:ea typeface="Helvetica Neue"/>
                <a:cs typeface="Helvetica Neue"/>
              </a:rPr>
              <a:t>The application behavior has test evidence</a:t>
            </a:r>
          </a:p>
        </p:txBody>
      </p:sp>
      <p:sp>
        <p:nvSpPr>
          <p:cNvPr id="2" name="08">
            <a:extLst xmlns:a="http://schemas.openxmlformats.org/drawingml/2006/main">
              <a:ext uri="{FF2B5EF4-FFF2-40B4-BE49-F238E27FC236}">
                <a16:creationId xmlns:a16="http://schemas.microsoft.com/office/drawing/2014/main" id="{040471B0-5BF2-4EB1-8262-9037F417031D}"/>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08</a:t>
            </a:r>
          </a:p>
        </p:txBody>
      </p:sp>
      <p:sp>
        <p:nvSpPr>
          <p:cNvPr id="3" name="210">
            <a:extLst xmlns:a="http://schemas.openxmlformats.org/drawingml/2006/main">
              <a:ext uri="{FF2B5EF4-FFF2-40B4-BE49-F238E27FC236}">
                <a16:creationId xmlns:a16="http://schemas.microsoft.com/office/drawing/2014/main" id="{502EAFD7-B7E7-4F9E-989B-8E1AC13A2A8C}"/>
              </a:ext>
            </a:extLst>
          </p:cNvPr>
          <p:cNvSpPr>
            <a:spLocks xmlns:a="http://schemas.openxmlformats.org/drawingml/2006/main" noGrp="1"/>
          </p:cNvSpPr>
          <p:nvPr/>
        </p:nvSpPr>
        <p:spPr>
          <a:xfrm xmlns:a="http://schemas.openxmlformats.org/drawingml/2006/main">
            <a:off x="628650" y="16478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EAC18C"/>
                </a:solidFill>
                <a:latin typeface="Helvetica Neue"/>
                <a:ea typeface="Helvetica Neue"/>
                <a:cs typeface="Helvetica Neue"/>
              </a:defRPr>
            </a:pPr>
            <a:r>
              <a:rPr sz="5925" b="1">
                <a:solidFill>
                  <a:srgbClr val="EAC18C"/>
                </a:solidFill>
                <a:latin typeface="Helvetica Neue"/>
                <a:ea typeface="Helvetica Neue"/>
                <a:cs typeface="Helvetica Neue"/>
              </a:rPr>
              <a:t>210</a:t>
            </a:r>
          </a:p>
        </p:txBody>
      </p:sp>
      <p:sp>
        <p:nvSpPr>
          <p:cNvPr id="4" name="assertions">
            <a:extLst xmlns:a="http://schemas.openxmlformats.org/drawingml/2006/main">
              <a:ext uri="{FF2B5EF4-FFF2-40B4-BE49-F238E27FC236}">
                <a16:creationId xmlns:a16="http://schemas.microsoft.com/office/drawing/2014/main" id="{8856AF06-E16B-4486-82C3-B049D31B3748}"/>
              </a:ext>
            </a:extLst>
          </p:cNvPr>
          <p:cNvSpPr>
            <a:spLocks xmlns:a="http://schemas.openxmlformats.org/drawingml/2006/main" noGrp="1"/>
          </p:cNvSpPr>
          <p:nvPr/>
        </p:nvSpPr>
        <p:spPr>
          <a:xfrm xmlns:a="http://schemas.openxmlformats.org/drawingml/2006/main">
            <a:off x="666750" y="26289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assertions</a:t>
            </a:r>
          </a:p>
        </p:txBody>
      </p:sp>
      <p:sp>
        <p:nvSpPr>
          <p:cNvPr id="5" name="12 / 12">
            <a:extLst xmlns:a="http://schemas.openxmlformats.org/drawingml/2006/main">
              <a:ext uri="{FF2B5EF4-FFF2-40B4-BE49-F238E27FC236}">
                <a16:creationId xmlns:a16="http://schemas.microsoft.com/office/drawing/2014/main" id="{DB1648D4-5F02-44EE-B886-3F4F8341DF9E}"/>
              </a:ext>
            </a:extLst>
          </p:cNvPr>
          <p:cNvSpPr>
            <a:spLocks xmlns:a="http://schemas.openxmlformats.org/drawingml/2006/main" noGrp="1"/>
          </p:cNvSpPr>
          <p:nvPr/>
        </p:nvSpPr>
        <p:spPr>
          <a:xfrm xmlns:a="http://schemas.openxmlformats.org/drawingml/2006/main">
            <a:off x="3562350" y="1647825"/>
            <a:ext cx="404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925" b="1">
                <a:solidFill>
                  <a:srgbClr val="F4F3EE"/>
                </a:solidFill>
                <a:latin typeface="Helvetica Neue"/>
                <a:ea typeface="Helvetica Neue"/>
                <a:cs typeface="Helvetica Neue"/>
              </a:defRPr>
            </a:pPr>
            <a:r>
              <a:rPr sz="5925" b="1">
                <a:solidFill>
                  <a:srgbClr val="F4F3EE"/>
                </a:solidFill>
                <a:latin typeface="Helvetica Neue"/>
                <a:ea typeface="Helvetica Neue"/>
                <a:cs typeface="Helvetica Neue"/>
              </a:rPr>
              <a:t>12 / 12</a:t>
            </a:r>
          </a:p>
        </p:txBody>
      </p:sp>
      <p:sp>
        <p:nvSpPr>
          <p:cNvPr id="6" name="integration groups passed">
            <a:extLst xmlns:a="http://schemas.openxmlformats.org/drawingml/2006/main">
              <a:ext uri="{FF2B5EF4-FFF2-40B4-BE49-F238E27FC236}">
                <a16:creationId xmlns:a16="http://schemas.microsoft.com/office/drawing/2014/main" id="{2D8D9D04-660D-410C-A8C8-A22F68864319}"/>
              </a:ext>
            </a:extLst>
          </p:cNvPr>
          <p:cNvSpPr>
            <a:spLocks xmlns:a="http://schemas.openxmlformats.org/drawingml/2006/main" noGrp="1"/>
          </p:cNvSpPr>
          <p:nvPr/>
        </p:nvSpPr>
        <p:spPr>
          <a:xfrm xmlns:a="http://schemas.openxmlformats.org/drawingml/2006/main">
            <a:off x="3609975" y="2628900"/>
            <a:ext cx="600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AFBAC8"/>
                </a:solidFill>
                <a:latin typeface="Helvetica Neue"/>
                <a:ea typeface="Helvetica Neue"/>
                <a:cs typeface="Helvetica Neue"/>
              </a:defRPr>
            </a:pPr>
            <a:r>
              <a:rPr sz="2025" b="0">
                <a:solidFill>
                  <a:srgbClr val="AFBAC8"/>
                </a:solidFill>
                <a:latin typeface="Helvetica Neue"/>
                <a:ea typeface="Helvetica Neue"/>
                <a:cs typeface="Helvetica Neue"/>
              </a:rPr>
              <a:t>integration groups passed</a:t>
            </a:r>
          </a:p>
        </p:txBody>
      </p:sp>
      <p:graphicFrame>
        <p:nvGraphicFramePr>
          <p:cNvPr id="15" name=""/>
          <p:cNvGraphicFramePr/>
          <p:nvPr/>
        </p:nvGraphicFramePr>
        <p:xfrm>
          <a:off xmlns:a="http://schemas.openxmlformats.org/drawingml/2006/main" x="628650" y="3495675"/>
          <a:ext xmlns:a="http://schemas.openxmlformats.org/drawingml/2006/main" cx="10934700" cy="2228850"/>
        </p:xfrm>
        <a:graphic xmlns:a="http://schemas.openxmlformats.org/drawingml/2006/main">
          <a:graphicData uri="http://schemas.openxmlformats.org/drawingml/2006/table">
            <a:tbl>
              <a:tblPr/>
              <a:tblGrid>
                <a:gridCol w="2667000"/>
                <a:gridCol w="8267700"/>
              </a:tblGrid>
              <a:tr h="557213">
                <a:tc>
                  <a:txBody>
                    <a:bodyPr/>
                    <a:lstStyle/>
                    <a:p>
                      <a:r>
                        <a:rPr sz="1800" b="1">
                          <a:solidFill>
                            <a:srgbClr val="EAC18C"/>
                          </a:solidFill>
                          <a:latin typeface="Helvetica Neue"/>
                          <a:ea typeface="Helvetica Neue"/>
                          <a:cs typeface="Helvetica Neue"/>
                        </a:rPr>
                        <a:t>Area</a:t>
                      </a:r>
                    </a:p>
                  </a:txBody>
                  <a:tcPr marL="133350" marR="133350" marT="114300" marB="114300" anchor="ctr">
                    <a:solidFill>
                      <a:srgbClr val="182538"/>
                    </a:solidFill>
                  </a:tcPr>
                </a:tc>
                <a:tc>
                  <a:txBody>
                    <a:bodyPr/>
                    <a:lstStyle/>
                    <a:p>
                      <a:r>
                        <a:rPr sz="1800" b="1">
                          <a:solidFill>
                            <a:srgbClr val="EAC18C"/>
                          </a:solidFill>
                          <a:latin typeface="Helvetica Neue"/>
                          <a:ea typeface="Helvetica Neue"/>
                          <a:cs typeface="Helvetica Neue"/>
                        </a:rPr>
                        <a:t>Verified behavior</a:t>
                      </a:r>
                    </a:p>
                  </a:txBody>
                  <a:tcPr marL="133350" marR="133350" marT="114300" marB="114300" anchor="ctr">
                    <a:solidFill>
                      <a:srgbClr val="182538"/>
                    </a:solidFill>
                  </a:tcPr>
                </a:tc>
              </a:tr>
              <a:tr h="557213">
                <a:tc>
                  <a:txBody>
                    <a:bodyPr/>
                    <a:lstStyle/>
                    <a:p>
                      <a:r>
                        <a:rPr sz="1800">
                          <a:solidFill>
                            <a:srgbClr val="F4F3EE"/>
                          </a:solidFill>
                          <a:latin typeface="Helvetica Neue"/>
                          <a:ea typeface="Helvetica Neue"/>
                          <a:cs typeface="Helvetica Neue"/>
                        </a:rPr>
                        <a:t>Voting</a:t>
                      </a:r>
                    </a:p>
                  </a:txBody>
                  <a:tcPr marL="133350" marR="133350" marT="114300" marB="114300" anchor="ctr">
                    <a:solidFill>
                      <a:srgbClr val="080B12"/>
                    </a:solidFill>
                  </a:tcPr>
                </a:tc>
                <a:tc>
                  <a:txBody>
                    <a:bodyPr/>
                    <a:lstStyle/>
                    <a:p>
                      <a:r>
                        <a:rPr sz="1800">
                          <a:solidFill>
                            <a:srgbClr val="F4F3EE"/>
                          </a:solidFill>
                          <a:latin typeface="Helvetica Neue"/>
                          <a:ea typeface="Helvetica Neue"/>
                          <a:cs typeface="Helvetica Neue"/>
                        </a:rPr>
                        <a:t>Replacement, frozen tally, ties, apply once</a:t>
                      </a:r>
                    </a:p>
                  </a:txBody>
                  <a:tcPr marL="133350" marR="133350" marT="114300" marB="114300" anchor="ctr">
                    <a:solidFill>
                      <a:srgbClr val="080B12"/>
                    </a:solidFill>
                  </a:tcPr>
                </a:tc>
              </a:tr>
              <a:tr h="557213">
                <a:tc>
                  <a:txBody>
                    <a:bodyPr/>
                    <a:lstStyle/>
                    <a:p>
                      <a:r>
                        <a:rPr sz="1800">
                          <a:solidFill>
                            <a:srgbClr val="F4F3EE"/>
                          </a:solidFill>
                          <a:latin typeface="Helvetica Neue"/>
                          <a:ea typeface="Helvetica Neue"/>
                          <a:cs typeface="Helvetica Neue"/>
                        </a:rPr>
                        <a:t>Consistency</a:t>
                      </a:r>
                    </a:p>
                  </a:txBody>
                  <a:tcPr marL="133350" marR="133350" marT="114300" marB="114300" anchor="ctr">
                    <a:solidFill>
                      <a:srgbClr val="080B12"/>
                    </a:solidFill>
                  </a:tcPr>
                </a:tc>
                <a:tc>
                  <a:txBody>
                    <a:bodyPr/>
                    <a:lstStyle/>
                    <a:p>
                      <a:r>
                        <a:rPr sz="1800">
                          <a:solidFill>
                            <a:srgbClr val="F4F3EE"/>
                          </a:solidFill>
                          <a:latin typeface="Helvetica Neue"/>
                          <a:ea typeface="Helvetica Neue"/>
                          <a:cs typeface="Helvetica Neue"/>
                        </a:rPr>
                        <a:t>Concurrent mutations and branch ancestry</a:t>
                      </a:r>
                    </a:p>
                  </a:txBody>
                  <a:tcPr marL="133350" marR="133350" marT="114300" marB="114300" anchor="ctr">
                    <a:solidFill>
                      <a:srgbClr val="080B12"/>
                    </a:solidFill>
                  </a:tcPr>
                </a:tc>
              </a:tr>
              <a:tr h="557213">
                <a:tc>
                  <a:txBody>
                    <a:bodyPr/>
                    <a:lstStyle/>
                    <a:p>
                      <a:r>
                        <a:rPr sz="1800">
                          <a:solidFill>
                            <a:srgbClr val="F4F3EE"/>
                          </a:solidFill>
                          <a:latin typeface="Helvetica Neue"/>
                          <a:ea typeface="Helvetica Neue"/>
                          <a:cs typeface="Helvetica Neue"/>
                        </a:rPr>
                        <a:t>Access + recovery</a:t>
                      </a:r>
                    </a:p>
                  </a:txBody>
                  <a:tcPr marL="133350" marR="133350" marT="114300" marB="114300" anchor="ctr">
                    <a:solidFill>
                      <a:srgbClr val="080B12"/>
                    </a:solidFill>
                  </a:tcPr>
                </a:tc>
                <a:tc>
                  <a:txBody>
                    <a:bodyPr/>
                    <a:lstStyle/>
                    <a:p>
                      <a:r>
                        <a:rPr sz="1800">
                          <a:solidFill>
                            <a:srgbClr val="F4F3EE"/>
                          </a:solidFill>
                          <a:latin typeface="Helvetica Neue"/>
                          <a:ea typeface="Helvetica Neue"/>
                          <a:cs typeface="Helvetica Neue"/>
                        </a:rPr>
                        <a:t>Owner isolation, exports, SSE reconnect</a:t>
                      </a:r>
                    </a:p>
                  </a:txBody>
                  <a:tcPr marL="133350" marR="133350" marT="114300" marB="114300" anchor="ctr">
                    <a:solidFill>
                      <a:srgbClr val="080B12"/>
                    </a:solidFill>
                  </a:tcPr>
                </a:tc>
              </a:tr>
            </a:tbl>
          </a:graphicData>
        </a:graphic>
      </p:graphicFrame>
      <p:sp>
        <p:nvSpPr>
          <p:cNvPr id="8" name="Local integration run: 12 September 2026. The">
            <a:extLst xmlns:a="http://schemas.openxmlformats.org/drawingml/2006/main">
              <a:ext uri="{FF2B5EF4-FFF2-40B4-BE49-F238E27FC236}">
                <a16:creationId xmlns:a16="http://schemas.microsoft.com/office/drawing/2014/main" id="{22F37D27-0A90-4299-BE34-0ECCCFE8E0A3}"/>
              </a:ext>
            </a:extLst>
          </p:cNvPr>
          <p:cNvSpPr>
            <a:spLocks xmlns:a="http://schemas.openxmlformats.org/drawingml/2006/main" noGrp="1"/>
          </p:cNvSpPr>
          <p:nvPr/>
        </p:nvSpPr>
        <p:spPr>
          <a:xfrm xmlns:a="http://schemas.openxmlformats.org/drawingml/2006/main">
            <a:off x="628650" y="62484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Local integration run: 12 September 2026. These checks do not establish provider availability, visual quality, or audience-scale load.</a:t>
            </a:r>
          </a:p>
        </p:txBody>
      </p:sp>
    </p:spTree>
    <p:extLst>
      <p:ext uri="{BB962C8B-B14F-4D97-AF65-F5344CB8AC3E}">
        <p14:creationId xmlns:p14="http://schemas.microsoft.com/office/powerpoint/2010/main" val="1688652063"/>
      </p:ext>
    </p:extLst>
  </p:cSld>
</p:sld>
</file>

<file path=ppt/slides/slide9.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6" name="The complete live loop was verified">
            <a:extLst xmlns:a="http://schemas.openxmlformats.org/drawingml/2006/main">
              <a:ext uri="{FF2B5EF4-FFF2-40B4-BE49-F238E27FC236}">
                <a16:creationId xmlns:a16="http://schemas.microsoft.com/office/drawing/2014/main" id="{679345D1-D49E-4809-A9A2-F7EA5E0BA201}"/>
              </a:ext>
            </a:extLst>
          </p:cNvPr>
          <p:cNvSpPr>
            <a:spLocks xmlns:a="http://schemas.openxmlformats.org/drawingml/2006/main" noGrp="1"/>
          </p:cNvSpPr>
          <p:nvPr/>
        </p:nvSpPr>
        <p:spPr>
          <a:xfrm xmlns:a="http://schemas.openxmlformats.org/drawingml/2006/main">
            <a:off x="628650" y="485775"/>
            <a:ext cx="10934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4F3EE"/>
                </a:solidFill>
                <a:latin typeface="Helvetica Neue"/>
                <a:ea typeface="Helvetica Neue"/>
                <a:cs typeface="Helvetica Neue"/>
              </a:defRPr>
            </a:pPr>
            <a:r>
              <a:rPr sz="3450" b="1">
                <a:solidFill>
                  <a:srgbClr val="F4F3EE"/>
                </a:solidFill>
                <a:latin typeface="Helvetica Neue"/>
                <a:ea typeface="Helvetica Neue"/>
                <a:cs typeface="Helvetica Neue"/>
              </a:rPr>
              <a:t>The complete live loop was verified</a:t>
            </a:r>
          </a:p>
        </p:txBody>
      </p:sp>
      <p:sp>
        <p:nvSpPr>
          <p:cNvPr id="2" name="09">
            <a:extLst xmlns:a="http://schemas.openxmlformats.org/drawingml/2006/main">
              <a:ext uri="{FF2B5EF4-FFF2-40B4-BE49-F238E27FC236}">
                <a16:creationId xmlns:a16="http://schemas.microsoft.com/office/drawing/2014/main" id="{0B840DEA-489B-473B-BF90-F5FA797D18CF}"/>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09</a:t>
            </a:r>
          </a:p>
        </p:txBody>
      </p:sp>
      <p:graphicFrame>
        <p:nvGraphicFramePr>
          <p:cNvPr id="8" name=""/>
          <p:cNvGraphicFramePr/>
          <p:nvPr/>
        </p:nvGraphicFramePr>
        <p:xfrm>
          <a:off xmlns:a="http://schemas.openxmlformats.org/drawingml/2006/main" x="628650" y="1752600"/>
          <a:ext xmlns:a="http://schemas.openxmlformats.org/drawingml/2006/main" cx="10934700" cy="3409950"/>
        </p:xfrm>
        <a:graphic xmlns:a="http://schemas.openxmlformats.org/drawingml/2006/main">
          <a:graphicData uri="http://schemas.openxmlformats.org/drawingml/2006/table">
            <a:tbl>
              <a:tblPr/>
              <a:tblGrid>
                <a:gridCol w="2305050"/>
                <a:gridCol w="4248150"/>
                <a:gridCol w="4381500"/>
              </a:tblGrid>
              <a:tr h="681990">
                <a:tc>
                  <a:txBody>
                    <a:bodyPr/>
                    <a:lstStyle/>
                    <a:p>
                      <a:r>
                        <a:rPr sz="1875" b="1">
                          <a:solidFill>
                            <a:srgbClr val="EAC18C"/>
                          </a:solidFill>
                          <a:latin typeface="Helvetica Neue"/>
                          <a:ea typeface="Helvetica Neue"/>
                          <a:cs typeface="Helvetica Neue"/>
                        </a:rPr>
                        <a:t>Stage</a:t>
                      </a:r>
                    </a:p>
                  </a:txBody>
                  <a:tcPr marL="133350" marR="133350" marT="114300" marB="114300" anchor="ctr">
                    <a:solidFill>
                      <a:srgbClr val="182538"/>
                    </a:solidFill>
                  </a:tcPr>
                </a:tc>
                <a:tc>
                  <a:txBody>
                    <a:bodyPr/>
                    <a:lstStyle/>
                    <a:p>
                      <a:r>
                        <a:rPr sz="1875" b="1">
                          <a:solidFill>
                            <a:srgbClr val="EAC18C"/>
                          </a:solidFill>
                          <a:latin typeface="Helvetica Neue"/>
                          <a:ea typeface="Helvetica Neue"/>
                          <a:cs typeface="Helvetica Neue"/>
                        </a:rPr>
                        <a:t>Combined local run</a:t>
                      </a:r>
                    </a:p>
                  </a:txBody>
                  <a:tcPr marL="133350" marR="133350" marT="114300" marB="114300" anchor="ctr">
                    <a:solidFill>
                      <a:srgbClr val="182538"/>
                    </a:solidFill>
                  </a:tcPr>
                </a:tc>
                <a:tc>
                  <a:txBody>
                    <a:bodyPr/>
                    <a:lstStyle/>
                    <a:p>
                      <a:r>
                        <a:rPr sz="1875" b="1">
                          <a:solidFill>
                            <a:srgbClr val="EAC18C"/>
                          </a:solidFill>
                          <a:latin typeface="Helvetica Neue"/>
                          <a:ea typeface="Helvetica Neue"/>
                          <a:cs typeface="Helvetica Neue"/>
                        </a:rPr>
                        <a:t>Evidence</a:t>
                      </a:r>
                    </a:p>
                  </a:txBody>
                  <a:tcPr marL="133350" marR="133350" marT="114300" marB="114300" anchor="ctr">
                    <a:solidFill>
                      <a:srgbClr val="182538"/>
                    </a:solidFill>
                  </a:tcPr>
                </a:tc>
              </a:tr>
              <a:tr h="681990">
                <a:tc>
                  <a:txBody>
                    <a:bodyPr/>
                    <a:lstStyle/>
                    <a:p>
                      <a:r>
                        <a:rPr sz="1875">
                          <a:solidFill>
                            <a:srgbClr val="F4F3EE"/>
                          </a:solidFill>
                          <a:latin typeface="Helvetica Neue"/>
                          <a:ea typeface="Helvetica Neue"/>
                          <a:cs typeface="Helvetica Neue"/>
                        </a:rPr>
                        <a:t>Audience</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Open the last door won</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Winner saved and applied</a:t>
                      </a:r>
                    </a:p>
                  </a:txBody>
                  <a:tcPr marL="133350" marR="133350" marT="114300" marB="114300" anchor="ctr">
                    <a:solidFill>
                      <a:srgbClr val="080B12"/>
                    </a:solidFill>
                  </a:tcPr>
                </a:tc>
              </a:tr>
              <a:tr h="681990">
                <a:tc>
                  <a:txBody>
                    <a:bodyPr/>
                    <a:lstStyle/>
                    <a:p>
                      <a:r>
                        <a:rPr sz="1875">
                          <a:solidFill>
                            <a:srgbClr val="F4F3EE"/>
                          </a:solidFill>
                          <a:latin typeface="Helvetica Neue"/>
                          <a:ea typeface="Helvetica Neue"/>
                          <a:cs typeface="Helvetica Neue"/>
                        </a:rPr>
                        <a:t>Nebius</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Scene + three new choices</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Memory and source retained</a:t>
                      </a:r>
                    </a:p>
                  </a:txBody>
                  <a:tcPr marL="133350" marR="133350" marT="114300" marB="114300" anchor="ctr">
                    <a:solidFill>
                      <a:srgbClr val="080B12"/>
                    </a:solidFill>
                  </a:tcPr>
                </a:tc>
              </a:tr>
              <a:tr h="681990">
                <a:tc>
                  <a:txBody>
                    <a:bodyPr/>
                    <a:lstStyle/>
                    <a:p>
                      <a:r>
                        <a:rPr sz="1875">
                          <a:solidFill>
                            <a:srgbClr val="F4F3EE"/>
                          </a:solidFill>
                          <a:latin typeface="Helvetica Neue"/>
                          <a:ea typeface="Helvetica Neue"/>
                          <a:cs typeface="Helvetica Neue"/>
                        </a:rPr>
                        <a:t>Orbis Stable</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Prompt accepted at 93 ms</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Next chunk at 1,927 ms</a:t>
                      </a:r>
                    </a:p>
                  </a:txBody>
                  <a:tcPr marL="133350" marR="133350" marT="114300" marB="114300" anchor="ctr">
                    <a:solidFill>
                      <a:srgbClr val="080B12"/>
                    </a:solidFill>
                  </a:tcPr>
                </a:tc>
              </a:tr>
              <a:tr h="681990">
                <a:tc>
                  <a:txBody>
                    <a:bodyPr/>
                    <a:lstStyle/>
                    <a:p>
                      <a:r>
                        <a:rPr sz="1875">
                          <a:solidFill>
                            <a:srgbClr val="F4F3EE"/>
                          </a:solidFill>
                          <a:latin typeface="Helvetica Neue"/>
                          <a:ea typeface="Helvetica Neue"/>
                          <a:cs typeface="Helvetica Neue"/>
                        </a:rPr>
                        <a:t>Movie</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18 fps; image confirmed</a:t>
                      </a:r>
                    </a:p>
                  </a:txBody>
                  <a:tcPr marL="133350" marR="133350" marT="114300" marB="114300" anchor="ctr">
                    <a:solidFill>
                      <a:srgbClr val="080B12"/>
                    </a:solidFill>
                  </a:tcPr>
                </a:tc>
                <a:tc>
                  <a:txBody>
                    <a:bodyPr/>
                    <a:lstStyle/>
                    <a:p>
                      <a:r>
                        <a:rPr sz="1875">
                          <a:solidFill>
                            <a:srgbClr val="F4F3EE"/>
                          </a:solidFill>
                          <a:latin typeface="Helvetica Neue"/>
                          <a:ea typeface="Helvetica Neue"/>
                          <a:cs typeface="Helvetica Neue"/>
                        </a:rPr>
                        <a:t>Doorway visually inspected</a:t>
                      </a:r>
                    </a:p>
                  </a:txBody>
                  <a:tcPr marL="133350" marR="133350" marT="114300" marB="114300" anchor="ctr">
                    <a:solidFill>
                      <a:srgbClr val="080B12"/>
                    </a:solidFill>
                  </a:tcPr>
                </a:tc>
              </a:tr>
            </a:tbl>
          </a:graphicData>
        </a:graphic>
      </p:graphicFrame>
      <p:sp>
        <p:nvSpPr>
          <p:cNvPr id="4" name="One observed run. Timings vary with each sess">
            <a:extLst xmlns:a="http://schemas.openxmlformats.org/drawingml/2006/main">
              <a:ext uri="{FF2B5EF4-FFF2-40B4-BE49-F238E27FC236}">
                <a16:creationId xmlns:a16="http://schemas.microsoft.com/office/drawing/2014/main" id="{83403CCB-0EFA-4E06-9519-3AD18CBC4369}"/>
              </a:ext>
            </a:extLst>
          </p:cNvPr>
          <p:cNvSpPr>
            <a:spLocks xmlns:a="http://schemas.openxmlformats.org/drawingml/2006/main" noGrp="1"/>
          </p:cNvSpPr>
          <p:nvPr/>
        </p:nvSpPr>
        <p:spPr>
          <a:xfrm xmlns:a="http://schemas.openxmlformats.org/drawingml/2006/main">
            <a:off x="628650" y="5572125"/>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EAC18C"/>
                </a:solidFill>
                <a:latin typeface="Helvetica Neue"/>
                <a:ea typeface="Helvetica Neue"/>
                <a:cs typeface="Helvetica Neue"/>
              </a:defRPr>
            </a:pPr>
            <a:r>
              <a:rPr sz="2175" b="0">
                <a:solidFill>
                  <a:srgbClr val="EAC18C"/>
                </a:solidFill>
                <a:latin typeface="Helvetica Neue"/>
                <a:ea typeface="Helvetica Neue"/>
                <a:cs typeface="Helvetica Neue"/>
              </a:rPr>
              <a:t>One observed run. Timings vary with each session.</a:t>
            </a:r>
          </a:p>
        </p:txBody>
      </p:sp>
      <p:sp>
        <p:nvSpPr>
          <p:cNvPr id="5" name="Local production build, 12 September 2026. Cu">
            <a:extLst xmlns:a="http://schemas.openxmlformats.org/drawingml/2006/main">
              <a:ext uri="{FF2B5EF4-FFF2-40B4-BE49-F238E27FC236}">
                <a16:creationId xmlns:a16="http://schemas.microsoft.com/office/drawing/2014/main" id="{BE0FC276-D7FF-4B3F-8AF1-4E0790908F35}"/>
              </a:ext>
            </a:extLst>
          </p:cNvPr>
          <p:cNvSpPr>
            <a:spLocks xmlns:a="http://schemas.openxmlformats.org/drawingml/2006/main" noGrp="1"/>
          </p:cNvSpPr>
          <p:nvPr/>
        </p:nvSpPr>
        <p:spPr>
          <a:xfrm xmlns:a="http://schemas.openxmlformats.org/drawingml/2006/main">
            <a:off x="628650" y="6286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Local production build, 12 September 2026. Cue acceptance does not prove every pictured detail.</a:t>
            </a:r>
          </a:p>
        </p:txBody>
      </p:sp>
    </p:spTree>
    <p:extLst>
      <p:ext uri="{BB962C8B-B14F-4D97-AF65-F5344CB8AC3E}">
        <p14:creationId xmlns:p14="http://schemas.microsoft.com/office/powerpoint/2010/main" val="943640526"/>
      </p:ext>
    </p:extLst>
  </p:cSld>
</p:sld>
</file>

<file path=ppt/slides/slide10.xml><?xml version="1.0" encoding="utf-8"?>
<p:sld xmlns:p="http://schemas.openxmlformats.org/presentationml/2006/main">
  <p:cSld>
    <p:bg>
      <p:bgPr>
        <a:solidFill xmlns:a="http://schemas.openxmlformats.org/drawingml/2006/main">
          <a:srgbClr val="080B12"/>
        </a:solidFill>
      </p:bgPr>
    </p:bg>
    <p:spTree>
      <p:nvGrpSpPr>
        <p:cNvPr id="1" name=""/>
        <p:cNvGrpSpPr/>
        <p:nvPr/>
      </p:nvGrpSpPr>
      <p:grpSpPr>
        <a:xfrm xmlns:a="http://schemas.openxmlformats.org/drawingml/2006/main"/>
      </p:grpSpPr>
      <p:sp>
        <p:nvSpPr>
          <p:cNvPr id="9" name="10">
            <a:extLst xmlns:a="http://schemas.openxmlformats.org/drawingml/2006/main">
              <a:ext uri="{FF2B5EF4-FFF2-40B4-BE49-F238E27FC236}">
                <a16:creationId xmlns:a16="http://schemas.microsoft.com/office/drawing/2014/main" id="{C58527FD-5698-4B3D-BD63-DB0E89BAE3CC}"/>
              </a:ext>
            </a:extLst>
          </p:cNvPr>
          <p:cNvSpPr>
            <a:spLocks xmlns:a="http://schemas.openxmlformats.org/drawingml/2006/main" noGrp="1"/>
          </p:cNvSpPr>
          <p:nvPr/>
        </p:nvSpPr>
        <p:spPr>
          <a:xfrm xmlns:a="http://schemas.openxmlformats.org/drawingml/2006/main">
            <a:off x="11144250" y="63246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AFBAC8"/>
                </a:solidFill>
                <a:latin typeface="Helvetica Neue"/>
                <a:ea typeface="Helvetica Neue"/>
                <a:cs typeface="Helvetica Neue"/>
              </a:defRPr>
            </a:pPr>
            <a:r>
              <a:rPr sz="1275" b="0">
                <a:solidFill>
                  <a:srgbClr val="AFBAC8"/>
                </a:solidFill>
                <a:latin typeface="Helvetica Neue"/>
                <a:ea typeface="Helvetica Neue"/>
                <a:cs typeface="Helvetica Neue"/>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a094402bbf34162"/>
          <a:srcRect xmlns:a="http://schemas.openxmlformats.org/drawingml/2006/main" l="11698" t="0" r="11698" b="0"/>
          <a:stretch xmlns:a="http://schemas.openxmlformats.org/drawingml/2006/main">
            <a:fillRect l="0" t="0" r="0" b="0"/>
          </a:stretch>
        </p:blipFill>
        <p:spPr>
          <a:xfrm xmlns:a="http://schemas.openxmlformats.org/drawingml/2006/main">
            <a:off x="2857500" y="0"/>
            <a:ext cx="9334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B833D-4311-4E1E-ADC5-A60551711E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80B12"/>
              </a:gs>
              <a:gs pos="48000">
                <a:srgbClr val="080B12">
                  <a:alpha val="91000"/>
                </a:srgbClr>
              </a:gs>
              <a:gs pos="100000">
                <a:srgbClr val="080B12">
                  <a:alpha val="30000"/>
                </a:srgbClr>
              </a:gs>
            </a:gsLst>
            <a:lin ang="0"/>
          </a:gradFill>
          <a:ln xmlns:a="http://schemas.openxmlformats.org/drawingml/2006/main" w="0">
            <a:noFill/>
          </a:ln>
        </p:spPr>
      </p:sp>
      <p:sp>
        <p:nvSpPr>
          <p:cNvPr id="4" name="CUTLINE">
            <a:extLst xmlns:a="http://schemas.openxmlformats.org/drawingml/2006/main">
              <a:ext uri="{FF2B5EF4-FFF2-40B4-BE49-F238E27FC236}">
                <a16:creationId xmlns:a16="http://schemas.microsoft.com/office/drawing/2014/main" id="{829555FD-6A68-4962-9309-456BA017465C}"/>
              </a:ext>
            </a:extLst>
          </p:cNvPr>
          <p:cNvSpPr>
            <a:spLocks xmlns:a="http://schemas.openxmlformats.org/drawingml/2006/main" noGrp="1"/>
          </p:cNvSpPr>
          <p:nvPr/>
        </p:nvSpPr>
        <p:spPr>
          <a:xfrm xmlns:a="http://schemas.openxmlformats.org/drawingml/2006/main">
            <a:off x="628650" y="1838325"/>
            <a:ext cx="752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75" b="1">
                <a:solidFill>
                  <a:srgbClr val="F4F3EE"/>
                </a:solidFill>
                <a:latin typeface="Helvetica Neue"/>
                <a:ea typeface="Helvetica Neue"/>
                <a:cs typeface="Helvetica Neue"/>
              </a:defRPr>
            </a:pPr>
            <a:r>
              <a:rPr sz="7875" b="1">
                <a:solidFill>
                  <a:srgbClr val="F4F3EE"/>
                </a:solidFill>
                <a:latin typeface="Helvetica Neue"/>
                <a:ea typeface="Helvetica Neue"/>
                <a:cs typeface="Helvetica Neue"/>
              </a:rPr>
              <a:t>CUTLINE</a:t>
            </a:r>
          </a:p>
        </p:txBody>
      </p:sp>
      <p:sp>
        <p:nvSpPr>
          <p:cNvPr id="5" name="The audience changes everything.">
            <a:extLst xmlns:a="http://schemas.openxmlformats.org/drawingml/2006/main">
              <a:ext uri="{FF2B5EF4-FFF2-40B4-BE49-F238E27FC236}">
                <a16:creationId xmlns:a16="http://schemas.microsoft.com/office/drawing/2014/main" id="{3B3FCCC6-CEAA-4B55-8583-F171C42322E3}"/>
              </a:ext>
            </a:extLst>
          </p:cNvPr>
          <p:cNvSpPr>
            <a:spLocks xmlns:a="http://schemas.openxmlformats.org/drawingml/2006/main" noGrp="1"/>
          </p:cNvSpPr>
          <p:nvPr/>
        </p:nvSpPr>
        <p:spPr>
          <a:xfrm xmlns:a="http://schemas.openxmlformats.org/drawingml/2006/main">
            <a:off x="685800" y="3324225"/>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EAC18C"/>
                </a:solidFill>
                <a:latin typeface="Helvetica Neue"/>
                <a:ea typeface="Helvetica Neue"/>
                <a:cs typeface="Helvetica Neue"/>
              </a:defRPr>
            </a:pPr>
            <a:r>
              <a:rPr sz="3300" b="0">
                <a:solidFill>
                  <a:srgbClr val="EAC18C"/>
                </a:solidFill>
                <a:latin typeface="Helvetica Neue"/>
                <a:ea typeface="Helvetica Neue"/>
                <a:cs typeface="Helvetica Neue"/>
              </a:rPr>
              <a:t>The audience changes everything.</a:t>
            </a:r>
          </a:p>
        </p:txBody>
      </p:sp>
      <p:sp>
        <p:nvSpPr>
          <p:cNvPr id="6" name="One room chooses the next scene.">
            <a:extLst xmlns:a="http://schemas.openxmlformats.org/drawingml/2006/main">
              <a:ext uri="{FF2B5EF4-FFF2-40B4-BE49-F238E27FC236}">
                <a16:creationId xmlns:a16="http://schemas.microsoft.com/office/drawing/2014/main" id="{BD09CE96-EC52-4B3B-8BB6-41382FF94309}"/>
              </a:ext>
            </a:extLst>
          </p:cNvPr>
          <p:cNvSpPr>
            <a:spLocks xmlns:a="http://schemas.openxmlformats.org/drawingml/2006/main" noGrp="1"/>
          </p:cNvSpPr>
          <p:nvPr/>
        </p:nvSpPr>
        <p:spPr>
          <a:xfrm xmlns:a="http://schemas.openxmlformats.org/drawingml/2006/main">
            <a:off x="695325" y="4676775"/>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4F3EE"/>
                </a:solidFill>
                <a:latin typeface="Helvetica Neue"/>
                <a:ea typeface="Helvetica Neue"/>
                <a:cs typeface="Helvetica Neue"/>
              </a:defRPr>
            </a:pPr>
            <a:r>
              <a:rPr sz="2400" b="0">
                <a:solidFill>
                  <a:srgbClr val="F4F3EE"/>
                </a:solidFill>
                <a:latin typeface="Helvetica Neue"/>
                <a:ea typeface="Helvetica Neue"/>
                <a:cs typeface="Helvetica Neue"/>
              </a:rPr>
              <a:t>One room chooses the next scene.</a:t>
            </a:r>
          </a:p>
        </p:txBody>
      </p:sp>
      <p:sp>
        <p:nvSpPr>
          <p:cNvPr id="7" name="Live demonstration">
            <a:extLst xmlns:a="http://schemas.openxmlformats.org/drawingml/2006/main">
              <a:ext uri="{FF2B5EF4-FFF2-40B4-BE49-F238E27FC236}">
                <a16:creationId xmlns:a16="http://schemas.microsoft.com/office/drawing/2014/main" id="{16931960-5E27-41C6-B2E6-423292D3E732}"/>
              </a:ext>
            </a:extLst>
          </p:cNvPr>
          <p:cNvSpPr>
            <a:spLocks xmlns:a="http://schemas.openxmlformats.org/drawingml/2006/main" noGrp="1"/>
          </p:cNvSpPr>
          <p:nvPr/>
        </p:nvSpPr>
        <p:spPr>
          <a:xfrm xmlns:a="http://schemas.openxmlformats.org/drawingml/2006/main">
            <a:off x="695325" y="55626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FBAC8"/>
                </a:solidFill>
                <a:latin typeface="Helvetica Neue"/>
                <a:ea typeface="Helvetica Neue"/>
                <a:cs typeface="Helvetica Neue"/>
              </a:defRPr>
            </a:pPr>
            <a:r>
              <a:rPr sz="1875" b="0">
                <a:solidFill>
                  <a:srgbClr val="AFBAC8"/>
                </a:solidFill>
                <a:latin typeface="Helvetica Neue"/>
                <a:ea typeface="Helvetica Neue"/>
                <a:cs typeface="Helvetica Neue"/>
              </a:rPr>
              <a:t>Live demonstration</a:t>
            </a:r>
          </a:p>
        </p:txBody>
      </p:sp>
      <p:sp>
        <p:nvSpPr>
          <p:cNvPr id="8" name="Speculative multiverse artwork">
            <a:extLst xmlns:a="http://schemas.openxmlformats.org/drawingml/2006/main">
              <a:ext uri="{FF2B5EF4-FFF2-40B4-BE49-F238E27FC236}">
                <a16:creationId xmlns:a16="http://schemas.microsoft.com/office/drawing/2014/main" id="{F61E19D3-7A80-4CD8-AA6D-F60362C37DEC}"/>
              </a:ext>
            </a:extLst>
          </p:cNvPr>
          <p:cNvSpPr>
            <a:spLocks xmlns:a="http://schemas.openxmlformats.org/drawingml/2006/main" noGrp="1"/>
          </p:cNvSpPr>
          <p:nvPr/>
        </p:nvSpPr>
        <p:spPr>
          <a:xfrm xmlns:a="http://schemas.openxmlformats.org/drawingml/2006/main">
            <a:off x="685800" y="6286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FBAC8"/>
                </a:solidFill>
                <a:latin typeface="Helvetica Neue"/>
                <a:ea typeface="Helvetica Neue"/>
                <a:cs typeface="Helvetica Neue"/>
              </a:defRPr>
            </a:pPr>
            <a:r>
              <a:rPr sz="1200" b="0">
                <a:solidFill>
                  <a:srgbClr val="AFBAC8"/>
                </a:solidFill>
                <a:latin typeface="Helvetica Neue"/>
                <a:ea typeface="Helvetica Neue"/>
                <a:cs typeface="Helvetica Neue"/>
              </a:rPr>
              <a:t>Speculative multiverse artwork</a:t>
            </a:r>
          </a:p>
        </p:txBody>
      </p:sp>
    </p:spTree>
    <p:extLst>
      <p:ext uri="{BB962C8B-B14F-4D97-AF65-F5344CB8AC3E}">
        <p14:creationId xmlns:p14="http://schemas.microsoft.com/office/powerpoint/2010/main" val="9592083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2026-09-12T23:35:55.4820000Z</dcterms:created>
  <dcterms:modified xsi:type="dcterms:W3CDTF">2026-09-12T23:35:55.4820000Z</dcterms:modified>
</coreProperties>
</file>